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32"/>
  </p:handoutMasterIdLst>
  <p:sldIdLst>
    <p:sldId id="389" r:id="rId3"/>
    <p:sldId id="453" r:id="rId5"/>
    <p:sldId id="391" r:id="rId6"/>
    <p:sldId id="392" r:id="rId7"/>
    <p:sldId id="454" r:id="rId8"/>
    <p:sldId id="455" r:id="rId9"/>
    <p:sldId id="393" r:id="rId10"/>
    <p:sldId id="456" r:id="rId11"/>
    <p:sldId id="457" r:id="rId12"/>
    <p:sldId id="458" r:id="rId13"/>
    <p:sldId id="400" r:id="rId14"/>
    <p:sldId id="459" r:id="rId15"/>
    <p:sldId id="461" r:id="rId16"/>
    <p:sldId id="460" r:id="rId17"/>
    <p:sldId id="463" r:id="rId18"/>
    <p:sldId id="404" r:id="rId19"/>
    <p:sldId id="466" r:id="rId20"/>
    <p:sldId id="467" r:id="rId21"/>
    <p:sldId id="470" r:id="rId22"/>
    <p:sldId id="471" r:id="rId23"/>
    <p:sldId id="473" r:id="rId24"/>
    <p:sldId id="474" r:id="rId25"/>
    <p:sldId id="475" r:id="rId26"/>
    <p:sldId id="476" r:id="rId27"/>
    <p:sldId id="406" r:id="rId28"/>
    <p:sldId id="464" r:id="rId29"/>
    <p:sldId id="465" r:id="rId30"/>
    <p:sldId id="271" r:id="rId31"/>
  </p:sldIdLst>
  <p:sldSz cx="12192000" cy="6858000"/>
  <p:notesSz cx="6858000" cy="9144000"/>
  <p:embeddedFontLst>
    <p:embeddedFont>
      <p:font typeface="Muli Black" panose="00000A00000000000000" pitchFamily="2" charset="0"/>
      <p:bold r:id="rId36"/>
    </p:embeddedFont>
    <p:embeddedFont>
      <p:font typeface="Muli SemiBold" panose="00000700000000000000" pitchFamily="2" charset="0"/>
      <p:bold r:id="rId37"/>
    </p:embeddedFont>
    <p:embeddedFont>
      <p:font typeface="Cambria" panose="02040503050406030204" pitchFamily="18" charset="0"/>
      <p:regular r:id="rId38"/>
      <p:bold r:id="rId39"/>
      <p:italic r:id="rId40"/>
      <p:boldItalic r:id="rId41"/>
    </p:embeddedFont>
    <p:embeddedFont>
      <p:font typeface="Roboto" panose="02000000000000000000"/>
      <p:regular r:id="rId42"/>
    </p:embeddedFont>
    <p:embeddedFont>
      <p:font typeface="Calibri" panose="020F0502020204030204" charset="0"/>
      <p:regular r:id="rId43"/>
      <p:bold r:id="rId44"/>
      <p:italic r:id="rId45"/>
      <p:boldItalic r:id="rId46"/>
    </p:embeddedFont>
    <p:embeddedFont>
      <p:font typeface="Calibri Light" panose="020F0302020204030204" charset="0"/>
      <p:regular r:id="rId47"/>
      <p:italic r:id="rId48"/>
    </p:embeddedFont>
    <p:embeddedFont>
      <p:font typeface="Roboto" panose="02000000000000000000" charset="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60" userDrawn="1">
          <p15:clr>
            <a:srgbClr val="A4A3A4"/>
          </p15:clr>
        </p15:guide>
        <p15:guide id="4" pos="7152" userDrawn="1">
          <p15:clr>
            <a:srgbClr val="A4A3A4"/>
          </p15:clr>
        </p15:guide>
        <p15:guide id="6" pos="4584" userDrawn="1">
          <p15:clr>
            <a:srgbClr val="A4A3A4"/>
          </p15:clr>
        </p15:guide>
        <p15:guide id="7" orient="horz" pos="16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5E49"/>
    <a:srgbClr val="50536C"/>
    <a:srgbClr val="006699"/>
    <a:srgbClr val="5BB584"/>
    <a:srgbClr val="5CB4B4"/>
    <a:srgbClr val="594F7B"/>
    <a:srgbClr val="418989"/>
    <a:srgbClr val="52785D"/>
    <a:srgbClr val="00808A"/>
    <a:srgbClr val="1E9E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50" autoAdjust="0"/>
    <p:restoredTop sz="93763" autoAdjust="0"/>
  </p:normalViewPr>
  <p:slideViewPr>
    <p:cSldViewPr snapToGrid="0" showGuides="1">
      <p:cViewPr varScale="1">
        <p:scale>
          <a:sx n="64" d="100"/>
          <a:sy n="64" d="100"/>
        </p:scale>
        <p:origin x="336" y="54"/>
      </p:cViewPr>
      <p:guideLst>
        <p:guide orient="horz" pos="2160"/>
        <p:guide pos="3840"/>
        <p:guide pos="360"/>
        <p:guide pos="7152"/>
        <p:guide pos="4584"/>
        <p:guide orient="horz" pos="1699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font" Target="fonts/font14.fntdata"/><Relationship Id="rId48" Type="http://schemas.openxmlformats.org/officeDocument/2006/relationships/font" Target="fonts/font13.fntdata"/><Relationship Id="rId47" Type="http://schemas.openxmlformats.org/officeDocument/2006/relationships/font" Target="fonts/font12.fntdata"/><Relationship Id="rId46" Type="http://schemas.openxmlformats.org/officeDocument/2006/relationships/font" Target="fonts/font11.fntdata"/><Relationship Id="rId45" Type="http://schemas.openxmlformats.org/officeDocument/2006/relationships/font" Target="fonts/font10.fntdata"/><Relationship Id="rId44" Type="http://schemas.openxmlformats.org/officeDocument/2006/relationships/font" Target="fonts/font9.fntdata"/><Relationship Id="rId43" Type="http://schemas.openxmlformats.org/officeDocument/2006/relationships/font" Target="fonts/font8.fntdata"/><Relationship Id="rId42" Type="http://schemas.openxmlformats.org/officeDocument/2006/relationships/font" Target="fonts/font7.fntdata"/><Relationship Id="rId41" Type="http://schemas.openxmlformats.org/officeDocument/2006/relationships/font" Target="fonts/font6.fntdata"/><Relationship Id="rId4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4.fntdata"/><Relationship Id="rId38" Type="http://schemas.openxmlformats.org/officeDocument/2006/relationships/font" Target="fonts/font3.fntdata"/><Relationship Id="rId37" Type="http://schemas.openxmlformats.org/officeDocument/2006/relationships/font" Target="fonts/font2.fntdata"/><Relationship Id="rId36" Type="http://schemas.openxmlformats.org/officeDocument/2006/relationships/font" Target="fonts/font1.fntdata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56D56-1C59-4D76-8E73-A47F9D64573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D8E91-D061-4704-9832-B34D31CDC9A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A8EC-182D-45BD-8306-FD19913718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08137-E4C0-4A69-89A5-E2BBCA0E6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A8EC-182D-45BD-8306-FD19913718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08137-E4C0-4A69-89A5-E2BBCA0E6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A8EC-182D-45BD-8306-FD19913718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08137-E4C0-4A69-89A5-E2BBCA0E6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A8EC-182D-45BD-8306-FD199137183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08137-E4C0-4A69-89A5-E2BBCA0E6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A8EC-182D-45BD-8306-FD1991371836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08137-E4C0-4A69-89A5-E2BBCA0E6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A8EC-182D-45BD-8306-FD1991371836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08137-E4C0-4A69-89A5-E2BBCA0E6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A8EC-182D-45BD-8306-FD1991371836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08137-E4C0-4A69-89A5-E2BBCA0E6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A8EC-182D-45BD-8306-FD199137183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08137-E4C0-4A69-89A5-E2BBCA0E6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A8EC-182D-45BD-8306-FD199137183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08137-E4C0-4A69-89A5-E2BBCA0E6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A8EC-182D-45BD-8306-FD19913718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08137-E4C0-4A69-89A5-E2BBCA0E6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A8EC-182D-45BD-8306-FD19913718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08137-E4C0-4A69-89A5-E2BBCA0E6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AA8EC-182D-45BD-8306-FD199137183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08137-E4C0-4A69-89A5-E2BBCA0E687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-2725" y="1"/>
            <a:ext cx="1872318" cy="6857999"/>
          </a:xfrm>
          <a:prstGeom prst="rect">
            <a:avLst/>
          </a:prstGeom>
          <a:solidFill>
            <a:srgbClr val="426687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 bwMode="white">
          <a:xfrm>
            <a:off x="3186929" y="1437880"/>
            <a:ext cx="53569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vi-VN" sz="2800" dirty="0">
                <a:solidFill>
                  <a:srgbClr val="426687"/>
                </a:solidFill>
                <a:latin typeface="Muli Black" panose="00000A00000000000000" pitchFamily="2" charset="0"/>
              </a:rPr>
              <a:t>BÁO CÁO HỌC PHẦN</a:t>
            </a:r>
            <a:endParaRPr lang="en-US" sz="2800" dirty="0">
              <a:solidFill>
                <a:srgbClr val="426687"/>
              </a:solidFill>
              <a:latin typeface="Muli Black" panose="00000A00000000000000" pitchFamily="2" charset="0"/>
            </a:endParaRPr>
          </a:p>
        </p:txBody>
      </p:sp>
      <p:sp>
        <p:nvSpPr>
          <p:cNvPr id="5" name="TextBox 4"/>
          <p:cNvSpPr txBox="1"/>
          <p:nvPr/>
        </p:nvSpPr>
        <p:spPr bwMode="white">
          <a:xfrm>
            <a:off x="3742414" y="380101"/>
            <a:ext cx="5592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600" dirty="0">
                <a:solidFill>
                  <a:srgbClr val="00808A"/>
                </a:solidFill>
                <a:latin typeface="Muli SemiBold" panose="00000700000000000000" pitchFamily="2" charset="0"/>
              </a:rPr>
              <a:t>UBND THÀNH PHỐ CẦN THƠ</a:t>
            </a:r>
            <a:endParaRPr lang="vi-VN" sz="1600" dirty="0">
              <a:solidFill>
                <a:srgbClr val="00808A"/>
              </a:solidFill>
              <a:latin typeface="Muli SemiBold" panose="00000700000000000000" pitchFamily="2" charset="0"/>
            </a:endParaRPr>
          </a:p>
          <a:p>
            <a:pPr algn="ctr"/>
            <a:r>
              <a:rPr lang="vi-VN" sz="1600" dirty="0">
                <a:solidFill>
                  <a:srgbClr val="00808A"/>
                </a:solidFill>
                <a:latin typeface="Muli SemiBold" panose="00000700000000000000" pitchFamily="2" charset="0"/>
              </a:rPr>
              <a:t>TRƯỜNG ĐẠI HỌC KỸ THUẬT – CÔNG NGHỆ CẦN THƠ</a:t>
            </a:r>
            <a:endParaRPr lang="en-US" sz="1600" dirty="0">
              <a:solidFill>
                <a:srgbClr val="00808A"/>
              </a:solidFill>
              <a:latin typeface="Muli SemiBold" panose="00000700000000000000" pitchFamily="2" charset="0"/>
            </a:endParaRPr>
          </a:p>
        </p:txBody>
      </p:sp>
      <p:pic>
        <p:nvPicPr>
          <p:cNvPr id="6" name="Picture 4" descr="Trường Đại học Kỹ thuật – Công nghệ Cần Thơ – Wikipedia tiếng Việt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543" y="206616"/>
            <a:ext cx="962773" cy="96277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pic>
      <p:sp>
        <p:nvSpPr>
          <p:cNvPr id="7" name="Rectangle 6"/>
          <p:cNvSpPr/>
          <p:nvPr/>
        </p:nvSpPr>
        <p:spPr bwMode="white">
          <a:xfrm>
            <a:off x="1565347" y="3068588"/>
            <a:ext cx="104837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>
                <a:solidFill>
                  <a:srgbClr val="00B0F0"/>
                </a:solidFill>
                <a:latin typeface="Muli Black" panose="00000A00000000000000" pitchFamily="2" charset="0"/>
              </a:rPr>
              <a:t>DỰ BÁO KHÁCH HÀNG RỜI BỎ</a:t>
            </a:r>
            <a:endParaRPr lang="en-US" sz="2800" dirty="0">
              <a:solidFill>
                <a:srgbClr val="00B0F0"/>
              </a:solidFill>
              <a:latin typeface="Muli Black" panose="00000A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2156508" y="1953712"/>
            <a:ext cx="7268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vi-VN" sz="3200" dirty="0">
                <a:solidFill>
                  <a:srgbClr val="FF0000"/>
                </a:solidFill>
                <a:latin typeface="Muli Black" panose="00000A00000000000000" pitchFamily="2" charset="0"/>
              </a:rPr>
              <a:t>HỆ TRỢ GIÚP QUYẾT ĐỊNH</a:t>
            </a:r>
            <a:endParaRPr lang="en-US" sz="3200" dirty="0">
              <a:solidFill>
                <a:srgbClr val="FF0000"/>
              </a:solidFill>
              <a:latin typeface="Muli Black" panose="00000A00000000000000" pitchFamily="2" charset="0"/>
            </a:endParaRPr>
          </a:p>
        </p:txBody>
      </p:sp>
      <p:sp>
        <p:nvSpPr>
          <p:cNvPr id="15" name="Rectangle 14"/>
          <p:cNvSpPr/>
          <p:nvPr/>
        </p:nvSpPr>
        <p:spPr bwMode="white">
          <a:xfrm>
            <a:off x="2007721" y="2735866"/>
            <a:ext cx="247789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200" u="sng" dirty="0">
                <a:latin typeface="Muli Black" panose="00000A00000000000000" pitchFamily="2" charset="0"/>
              </a:rPr>
              <a:t>Đề tài:</a:t>
            </a:r>
            <a:endParaRPr lang="en-US" sz="2200" u="sng" dirty="0">
              <a:latin typeface="Muli Black" panose="00000A00000000000000" pitchFamily="2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655407" y="1"/>
            <a:ext cx="222137" cy="6857999"/>
          </a:xfrm>
          <a:prstGeom prst="rect">
            <a:avLst/>
          </a:prstGeom>
          <a:solidFill>
            <a:srgbClr val="006699">
              <a:alpha val="5254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42"/>
          <a:stretch>
            <a:fillRect/>
          </a:stretch>
        </p:blipFill>
        <p:spPr>
          <a:xfrm>
            <a:off x="2366369" y="3495968"/>
            <a:ext cx="8881734" cy="35561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-2725" y="1"/>
            <a:ext cx="1872318" cy="6857999"/>
          </a:xfrm>
          <a:prstGeom prst="rect">
            <a:avLst/>
          </a:prstGeom>
          <a:solidFill>
            <a:srgbClr val="426687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655407" y="1"/>
            <a:ext cx="222137" cy="6857999"/>
          </a:xfrm>
          <a:prstGeom prst="rect">
            <a:avLst/>
          </a:prstGeom>
          <a:solidFill>
            <a:srgbClr val="006699">
              <a:alpha val="5254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 bwMode="white">
          <a:xfrm>
            <a:off x="-10676" y="2157312"/>
            <a:ext cx="171509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200" dirty="0">
                <a:solidFill>
                  <a:schemeClr val="bg1"/>
                </a:solidFill>
                <a:latin typeface="Muli Black" panose="00000A00000000000000" pitchFamily="2" charset="0"/>
              </a:rPr>
              <a:t>DANH SÁCH THÀNH VIÊN</a:t>
            </a:r>
            <a:endParaRPr lang="en-US" sz="32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137483" y="1589875"/>
            <a:ext cx="3703915" cy="2597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Nguyễn Thái Dương</a:t>
            </a:r>
            <a:endParaRPr lang="vi-VN" sz="2800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vi-V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Phạm Sơn Hoàng</a:t>
            </a:r>
            <a:endParaRPr lang="vi-VN" sz="2800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vi-V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Nguyễn Lê Hải Đăng</a:t>
            </a:r>
            <a:endParaRPr lang="vi-VN" sz="2800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vi-V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Liên Hòa Thuận</a:t>
            </a:r>
            <a:endParaRPr lang="vi-VN" sz="2800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063920" y="1589875"/>
            <a:ext cx="3703915" cy="2597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CNTT2211074</a:t>
            </a:r>
            <a:endParaRPr lang="vi-VN" sz="2800" b="1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vi-V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CNTT2211056</a:t>
            </a:r>
            <a:endParaRPr lang="vi-VN" sz="2800" b="1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vi-V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CNTT2211031</a:t>
            </a:r>
            <a:endParaRPr lang="vi-VN" sz="2800" b="1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vi-V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CNTT2211008</a:t>
            </a:r>
            <a:endParaRPr lang="vi-VN" sz="2800" b="1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0816548" y="6115948"/>
            <a:ext cx="145143" cy="145143"/>
          </a:xfrm>
          <a:prstGeom prst="rect">
            <a:avLst/>
          </a:prstGeom>
          <a:solidFill>
            <a:srgbClr val="68D0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11014506" y="6115947"/>
            <a:ext cx="145143" cy="145143"/>
          </a:xfrm>
          <a:prstGeom prst="rect">
            <a:avLst/>
          </a:prstGeom>
          <a:solidFill>
            <a:srgbClr val="68D0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11212464" y="6115947"/>
            <a:ext cx="145143" cy="145143"/>
          </a:xfrm>
          <a:prstGeom prst="rect">
            <a:avLst/>
          </a:prstGeom>
          <a:solidFill>
            <a:srgbClr val="68D0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11410422" y="6115947"/>
            <a:ext cx="145143" cy="1451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11608378" y="6115947"/>
            <a:ext cx="145143" cy="1451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6841398" y="1589875"/>
            <a:ext cx="3703915" cy="324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 </a:t>
            </a:r>
            <a:endParaRPr lang="vi-VN" sz="2800" b="1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vi-V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</a:t>
            </a:r>
            <a:endParaRPr lang="vi-VN" sz="2800" b="1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vi-V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</a:t>
            </a:r>
            <a:endParaRPr lang="vi-VN" sz="2800" b="1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vi-V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</a:t>
            </a:r>
            <a:endParaRPr lang="vi-VN" sz="2800" b="1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endParaRPr lang="vi-VN" sz="2800" b="1" dirty="0">
              <a:solidFill>
                <a:schemeClr val="tx1">
                  <a:lumMod val="85000"/>
                  <a:lumOff val="1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6" name="Half Frame 105"/>
          <p:cNvSpPr/>
          <p:nvPr/>
        </p:nvSpPr>
        <p:spPr>
          <a:xfrm>
            <a:off x="2581275" y="1229015"/>
            <a:ext cx="4161686" cy="861934"/>
          </a:xfrm>
          <a:prstGeom prst="halfFrame">
            <a:avLst>
              <a:gd name="adj1" fmla="val 7457"/>
              <a:gd name="adj2" fmla="val 7875"/>
            </a:avLst>
          </a:prstGeom>
          <a:solidFill>
            <a:srgbClr val="00808A"/>
          </a:solidFill>
          <a:effectLst>
            <a:innerShdw blurRad="114300" dist="76200">
              <a:prstClr val="black">
                <a:alpha val="46000"/>
              </a:prstClr>
            </a:inn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808A"/>
              </a:solidFill>
            </a:endParaRPr>
          </a:p>
        </p:txBody>
      </p:sp>
      <p:sp>
        <p:nvSpPr>
          <p:cNvPr id="107" name="Half Frame 106"/>
          <p:cNvSpPr/>
          <p:nvPr/>
        </p:nvSpPr>
        <p:spPr>
          <a:xfrm rot="10800000">
            <a:off x="6925391" y="4121699"/>
            <a:ext cx="4161686" cy="861934"/>
          </a:xfrm>
          <a:prstGeom prst="halfFrame">
            <a:avLst>
              <a:gd name="adj1" fmla="val 7457"/>
              <a:gd name="adj2" fmla="val 7875"/>
            </a:avLst>
          </a:prstGeom>
          <a:solidFill>
            <a:srgbClr val="00808A"/>
          </a:solidFill>
          <a:effectLst>
            <a:innerShdw blurRad="114300" dist="76200">
              <a:prstClr val="black">
                <a:alpha val="46000"/>
              </a:prstClr>
            </a:inn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808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-2725" y="1"/>
            <a:ext cx="1872318" cy="6857999"/>
          </a:xfrm>
          <a:prstGeom prst="rect">
            <a:avLst/>
          </a:prstGeom>
          <a:solidFill>
            <a:srgbClr val="426687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 bwMode="white">
          <a:xfrm>
            <a:off x="236551" y="2819730"/>
            <a:ext cx="119942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BỐ CỤC</a:t>
            </a:r>
            <a:endParaRPr lang="en-US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grpSp>
        <p:nvGrpSpPr>
          <p:cNvPr id="126" name="Group 125"/>
          <p:cNvGrpSpPr/>
          <p:nvPr/>
        </p:nvGrpSpPr>
        <p:grpSpPr>
          <a:xfrm>
            <a:off x="2714625" y="2152341"/>
            <a:ext cx="466725" cy="707886"/>
            <a:chOff x="5839629" y="790011"/>
            <a:chExt cx="1406625" cy="1483099"/>
          </a:xfrm>
          <a:solidFill>
            <a:srgbClr val="0070C0"/>
          </a:solidFill>
        </p:grpSpPr>
        <p:sp>
          <p:nvSpPr>
            <p:cNvPr id="127" name="Rectangle 126"/>
            <p:cNvSpPr/>
            <p:nvPr/>
          </p:nvSpPr>
          <p:spPr>
            <a:xfrm>
              <a:off x="5839629" y="790011"/>
              <a:ext cx="1406625" cy="14308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5964103" y="790011"/>
              <a:ext cx="1148329" cy="148309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vi-VN" sz="4000" dirty="0">
                  <a:solidFill>
                    <a:schemeClr val="bg1"/>
                  </a:solidFill>
                  <a:latin typeface="Muli Black" panose="00000A00000000000000" pitchFamily="2" charset="0"/>
                </a:rPr>
                <a:t>2</a:t>
              </a:r>
              <a:endParaRPr lang="en-US" sz="4000" dirty="0">
                <a:solidFill>
                  <a:schemeClr val="bg1"/>
                </a:solidFill>
                <a:latin typeface="Muli Black" panose="00000A00000000000000" pitchFamily="2" charset="0"/>
              </a:endParaRPr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2714625" y="3003241"/>
            <a:ext cx="466725" cy="707886"/>
            <a:chOff x="5839629" y="790011"/>
            <a:chExt cx="1406625" cy="1483099"/>
          </a:xfrm>
          <a:solidFill>
            <a:srgbClr val="0070C0"/>
          </a:solidFill>
        </p:grpSpPr>
        <p:sp>
          <p:nvSpPr>
            <p:cNvPr id="130" name="Rectangle 129"/>
            <p:cNvSpPr/>
            <p:nvPr/>
          </p:nvSpPr>
          <p:spPr>
            <a:xfrm>
              <a:off x="5839629" y="790011"/>
              <a:ext cx="1406625" cy="14308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5964103" y="790011"/>
              <a:ext cx="1148329" cy="148309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vi-VN" sz="4000" dirty="0">
                  <a:solidFill>
                    <a:schemeClr val="bg1"/>
                  </a:solidFill>
                  <a:latin typeface="Muli Black" panose="00000A00000000000000" pitchFamily="2" charset="0"/>
                </a:rPr>
                <a:t>3</a:t>
              </a:r>
              <a:endParaRPr lang="en-US" sz="4000" dirty="0">
                <a:solidFill>
                  <a:schemeClr val="bg1"/>
                </a:solidFill>
                <a:latin typeface="Muli Black" panose="00000A00000000000000" pitchFamily="2" charset="0"/>
              </a:endParaRPr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2714625" y="3860491"/>
            <a:ext cx="466725" cy="707886"/>
            <a:chOff x="5839629" y="790011"/>
            <a:chExt cx="1406625" cy="1483099"/>
          </a:xfrm>
          <a:solidFill>
            <a:srgbClr val="0070C0"/>
          </a:solidFill>
        </p:grpSpPr>
        <p:sp>
          <p:nvSpPr>
            <p:cNvPr id="133" name="Rectangle 132"/>
            <p:cNvSpPr/>
            <p:nvPr/>
          </p:nvSpPr>
          <p:spPr>
            <a:xfrm>
              <a:off x="5839629" y="790011"/>
              <a:ext cx="1406625" cy="14308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5964103" y="790011"/>
              <a:ext cx="1148329" cy="148309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vi-VN" sz="4000" dirty="0">
                  <a:solidFill>
                    <a:schemeClr val="bg1"/>
                  </a:solidFill>
                  <a:latin typeface="Muli Black" panose="00000A00000000000000" pitchFamily="2" charset="0"/>
                </a:rPr>
                <a:t>4</a:t>
              </a:r>
              <a:endParaRPr lang="en-US" sz="4000" dirty="0">
                <a:solidFill>
                  <a:schemeClr val="bg1"/>
                </a:solidFill>
                <a:latin typeface="Muli Black" panose="00000A00000000000000" pitchFamily="2" charset="0"/>
              </a:endParaRPr>
            </a:p>
          </p:txBody>
        </p:sp>
      </p:grpSp>
      <p:grpSp>
        <p:nvGrpSpPr>
          <p:cNvPr id="135" name="Group 134"/>
          <p:cNvGrpSpPr/>
          <p:nvPr/>
        </p:nvGrpSpPr>
        <p:grpSpPr>
          <a:xfrm>
            <a:off x="2714625" y="4717741"/>
            <a:ext cx="466725" cy="707886"/>
            <a:chOff x="5839629" y="790011"/>
            <a:chExt cx="1406625" cy="1483099"/>
          </a:xfrm>
          <a:solidFill>
            <a:srgbClr val="0070C0"/>
          </a:solidFill>
        </p:grpSpPr>
        <p:sp>
          <p:nvSpPr>
            <p:cNvPr id="136" name="Rectangle 135"/>
            <p:cNvSpPr/>
            <p:nvPr/>
          </p:nvSpPr>
          <p:spPr>
            <a:xfrm>
              <a:off x="5839629" y="790011"/>
              <a:ext cx="1406625" cy="14308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5964103" y="790011"/>
              <a:ext cx="1148329" cy="148309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vi-VN" sz="4000" dirty="0">
                  <a:solidFill>
                    <a:schemeClr val="bg1"/>
                  </a:solidFill>
                  <a:latin typeface="Muli Black" panose="00000A00000000000000" pitchFamily="2" charset="0"/>
                </a:rPr>
                <a:t>5</a:t>
              </a:r>
              <a:endParaRPr lang="en-US" sz="4000" dirty="0">
                <a:solidFill>
                  <a:schemeClr val="bg1"/>
                </a:solidFill>
                <a:latin typeface="Muli Black" panose="00000A00000000000000" pitchFamily="2" charset="0"/>
              </a:endParaRP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2713073" y="1295091"/>
            <a:ext cx="466725" cy="707886"/>
            <a:chOff x="5839629" y="790011"/>
            <a:chExt cx="1406625" cy="1483099"/>
          </a:xfrm>
          <a:solidFill>
            <a:srgbClr val="0070C0"/>
          </a:solidFill>
        </p:grpSpPr>
        <p:sp>
          <p:nvSpPr>
            <p:cNvPr id="147" name="Rectangle 146"/>
            <p:cNvSpPr/>
            <p:nvPr/>
          </p:nvSpPr>
          <p:spPr>
            <a:xfrm>
              <a:off x="5839629" y="790011"/>
              <a:ext cx="1406625" cy="143082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5964103" y="790011"/>
              <a:ext cx="1148329" cy="148309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vi-VN" sz="4000" dirty="0">
                  <a:solidFill>
                    <a:schemeClr val="bg1"/>
                  </a:solidFill>
                  <a:latin typeface="Muli Black" panose="00000A00000000000000" pitchFamily="2" charset="0"/>
                </a:rPr>
                <a:t>1</a:t>
              </a:r>
              <a:endParaRPr lang="en-US" sz="4000" dirty="0">
                <a:solidFill>
                  <a:schemeClr val="bg1"/>
                </a:solidFill>
                <a:latin typeface="Muli Black" panose="00000A00000000000000" pitchFamily="2" charset="0"/>
              </a:endParaRPr>
            </a:p>
          </p:txBody>
        </p:sp>
      </p:grpSp>
      <p:sp>
        <p:nvSpPr>
          <p:cNvPr id="150" name="Title 1"/>
          <p:cNvSpPr txBox="1"/>
          <p:nvPr/>
        </p:nvSpPr>
        <p:spPr>
          <a:xfrm>
            <a:off x="3336333" y="1218490"/>
            <a:ext cx="8960441" cy="861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2400" dirty="0">
                <a:solidFill>
                  <a:srgbClr val="00808A"/>
                </a:solidFill>
                <a:latin typeface="Muli Black" panose="00000A00000000000000" pitchFamily="2" charset="0"/>
              </a:rPr>
              <a:t>Tổng quan về đề tài</a:t>
            </a:r>
            <a:endParaRPr lang="en-US" sz="2400" dirty="0">
              <a:solidFill>
                <a:srgbClr val="00808A"/>
              </a:solidFill>
              <a:latin typeface="Muli Black" panose="00000A00000000000000" pitchFamily="2" charset="0"/>
            </a:endParaRPr>
          </a:p>
        </p:txBody>
      </p:sp>
      <p:sp>
        <p:nvSpPr>
          <p:cNvPr id="153" name="Title 1"/>
          <p:cNvSpPr txBox="1"/>
          <p:nvPr/>
        </p:nvSpPr>
        <p:spPr>
          <a:xfrm>
            <a:off x="3336334" y="2095999"/>
            <a:ext cx="4371766" cy="861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2400" dirty="0">
                <a:solidFill>
                  <a:srgbClr val="00808A"/>
                </a:solidFill>
                <a:latin typeface="Muli Black" panose="00000A00000000000000" pitchFamily="2" charset="0"/>
              </a:rPr>
              <a:t>Cơ sở lý thuyết. </a:t>
            </a:r>
            <a:endParaRPr lang="en-US" sz="2400" dirty="0">
              <a:solidFill>
                <a:srgbClr val="00808A"/>
              </a:solidFill>
              <a:latin typeface="Muli Black" panose="00000A00000000000000" pitchFamily="2" charset="0"/>
            </a:endParaRPr>
          </a:p>
        </p:txBody>
      </p:sp>
      <p:sp>
        <p:nvSpPr>
          <p:cNvPr id="154" name="Title 1"/>
          <p:cNvSpPr txBox="1"/>
          <p:nvPr/>
        </p:nvSpPr>
        <p:spPr>
          <a:xfrm>
            <a:off x="3336334" y="2973508"/>
            <a:ext cx="4371766" cy="861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2400" dirty="0">
                <a:solidFill>
                  <a:srgbClr val="00808A"/>
                </a:solidFill>
                <a:latin typeface="Muli Black" panose="00000A00000000000000" pitchFamily="2" charset="0"/>
              </a:rPr>
              <a:t>Phương pháp thực hiện.</a:t>
            </a:r>
            <a:endParaRPr lang="en-US" sz="2400" dirty="0">
              <a:solidFill>
                <a:srgbClr val="00808A"/>
              </a:solidFill>
              <a:latin typeface="Muli Black" panose="00000A00000000000000" pitchFamily="2" charset="0"/>
            </a:endParaRPr>
          </a:p>
        </p:txBody>
      </p:sp>
      <p:sp>
        <p:nvSpPr>
          <p:cNvPr id="155" name="Title 1"/>
          <p:cNvSpPr txBox="1"/>
          <p:nvPr/>
        </p:nvSpPr>
        <p:spPr>
          <a:xfrm>
            <a:off x="3336333" y="3851017"/>
            <a:ext cx="8407992" cy="861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2400" dirty="0">
                <a:solidFill>
                  <a:srgbClr val="00808A"/>
                </a:solidFill>
                <a:latin typeface="Muli Black" panose="00000A00000000000000" pitchFamily="2" charset="0"/>
              </a:rPr>
              <a:t>Kết quả thực nghiệm và đánh giá hiệu quả mô hình.</a:t>
            </a:r>
            <a:endParaRPr lang="en-US" sz="2400" dirty="0">
              <a:solidFill>
                <a:srgbClr val="00808A"/>
              </a:solidFill>
              <a:latin typeface="Muli Black" panose="00000A00000000000000" pitchFamily="2" charset="0"/>
            </a:endParaRPr>
          </a:p>
        </p:txBody>
      </p:sp>
      <p:sp>
        <p:nvSpPr>
          <p:cNvPr id="156" name="Title 1"/>
          <p:cNvSpPr txBox="1"/>
          <p:nvPr/>
        </p:nvSpPr>
        <p:spPr>
          <a:xfrm>
            <a:off x="3336333" y="4728526"/>
            <a:ext cx="7859103" cy="861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2400" dirty="0">
                <a:solidFill>
                  <a:srgbClr val="00808A"/>
                </a:solidFill>
                <a:latin typeface="Muli Black" panose="00000A00000000000000" pitchFamily="2" charset="0"/>
              </a:rPr>
              <a:t>Kết luận và định hướng phát triển. </a:t>
            </a:r>
            <a:endParaRPr lang="en-US" sz="2400" dirty="0">
              <a:solidFill>
                <a:srgbClr val="00808A"/>
              </a:solidFill>
              <a:latin typeface="Muli Black" panose="00000A00000000000000" pitchFamily="2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2559642" y="2079578"/>
            <a:ext cx="9627132" cy="16420"/>
          </a:xfrm>
          <a:prstGeom prst="line">
            <a:avLst/>
          </a:prstGeom>
          <a:ln>
            <a:solidFill>
              <a:srgbClr val="6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/>
        </p:nvCxnSpPr>
        <p:spPr>
          <a:xfrm>
            <a:off x="2576872" y="2957086"/>
            <a:ext cx="9627132" cy="16420"/>
          </a:xfrm>
          <a:prstGeom prst="line">
            <a:avLst/>
          </a:prstGeom>
          <a:ln>
            <a:solidFill>
              <a:srgbClr val="6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>
            <a:off x="2570249" y="3810741"/>
            <a:ext cx="9627132" cy="16420"/>
          </a:xfrm>
          <a:prstGeom prst="line">
            <a:avLst/>
          </a:prstGeom>
          <a:ln>
            <a:solidFill>
              <a:srgbClr val="6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/>
          <p:nvPr/>
        </p:nvCxnSpPr>
        <p:spPr>
          <a:xfrm>
            <a:off x="2563627" y="4670811"/>
            <a:ext cx="9627132" cy="16420"/>
          </a:xfrm>
          <a:prstGeom prst="line">
            <a:avLst/>
          </a:prstGeom>
          <a:ln>
            <a:solidFill>
              <a:srgbClr val="6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/>
          <p:nvPr/>
        </p:nvCxnSpPr>
        <p:spPr>
          <a:xfrm>
            <a:off x="2549681" y="5514933"/>
            <a:ext cx="9627132" cy="16420"/>
          </a:xfrm>
          <a:prstGeom prst="line">
            <a:avLst/>
          </a:prstGeom>
          <a:ln>
            <a:solidFill>
              <a:srgbClr val="68D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655407" y="1"/>
            <a:ext cx="222137" cy="6857999"/>
          </a:xfrm>
          <a:prstGeom prst="rect">
            <a:avLst/>
          </a:prstGeom>
          <a:solidFill>
            <a:srgbClr val="006699">
              <a:alpha val="5254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2725" y="1"/>
            <a:ext cx="1872318" cy="6857999"/>
          </a:xfrm>
          <a:prstGeom prst="rect">
            <a:avLst/>
          </a:prstGeom>
          <a:solidFill>
            <a:schemeClr val="accent2">
              <a:lumMod val="50000"/>
              <a:alpha val="5294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92280" y="1912689"/>
            <a:ext cx="1764140" cy="2775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b="1" dirty="0">
                <a:solidFill>
                  <a:schemeClr val="bg1"/>
                </a:solidFill>
                <a:latin typeface="Muli Black" panose="00000A00000000000000" pitchFamily="2" charset="0"/>
              </a:rPr>
              <a:t>1.</a:t>
            </a:r>
            <a:endParaRPr lang="vi-VN" sz="3500" b="1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b="1" dirty="0">
                <a:solidFill>
                  <a:schemeClr val="bg1"/>
                </a:solidFill>
                <a:latin typeface="Muli Black" panose="00000A00000000000000" pitchFamily="2" charset="0"/>
              </a:rPr>
              <a:t>Tổng quan về đề tài</a:t>
            </a:r>
            <a:endParaRPr lang="vi-VN" sz="3500" b="1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00200" y="1100574"/>
            <a:ext cx="10486347" cy="40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Trong thời đại chuyển đổi số, dữ liệu đóng vai trò quan trọng trong việc hỗ trợ ra quyết định; hệ DSS giúp nhà quản lý phân tích và lựa chọn phương án tối ưu.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b="1" dirty="0">
                <a:latin typeface="Roboto" panose="02000000000000000000"/>
                <a:ea typeface="Cambria" panose="02040503050406030204" pitchFamily="18" charset="0"/>
              </a:rPr>
              <a:t>Dự báo khách hàng rời bỏ </a:t>
            </a: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là bài toán thiết thực, giúp DSS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(Decision Support System)</a:t>
            </a: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 nhận diện sớm nguy cơ mất khách và nâng cao hiệu quả quyết định trong doanh nghiệp.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 bwMode="white">
          <a:xfrm>
            <a:off x="105453" y="1912689"/>
            <a:ext cx="1764140" cy="2775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b="1" dirty="0">
                <a:solidFill>
                  <a:schemeClr val="bg1"/>
                </a:solidFill>
                <a:latin typeface="Muli Black" panose="00000A00000000000000" pitchFamily="2" charset="0"/>
              </a:rPr>
              <a:t>1.</a:t>
            </a:r>
            <a:endParaRPr lang="vi-VN" sz="3500" b="1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b="1" dirty="0">
                <a:solidFill>
                  <a:schemeClr val="bg1"/>
                </a:solidFill>
                <a:latin typeface="Muli Black" panose="00000A00000000000000" pitchFamily="2" charset="0"/>
              </a:rPr>
              <a:t>Tổng quan về đề tài</a:t>
            </a:r>
            <a:endParaRPr lang="vi-VN" sz="3500" b="1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105453" y="367477"/>
            <a:ext cx="81527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1.1. Lý do chọn đề tài</a:t>
            </a:r>
            <a:endParaRPr lang="vi-VN" sz="2800" b="1" dirty="0">
              <a:latin typeface="Muli Black" panose="00000A00000000000000" pitchFamily="2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2057400" y="157600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2725" y="1"/>
            <a:ext cx="1872318" cy="6857999"/>
          </a:xfrm>
          <a:prstGeom prst="rect">
            <a:avLst/>
          </a:prstGeom>
          <a:solidFill>
            <a:schemeClr val="accent2">
              <a:lumMod val="50000"/>
              <a:alpha val="5294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92280" y="1912689"/>
            <a:ext cx="1764140" cy="2775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b="1" dirty="0">
                <a:solidFill>
                  <a:schemeClr val="bg1"/>
                </a:solidFill>
                <a:latin typeface="Muli Black" panose="00000A00000000000000" pitchFamily="2" charset="0"/>
              </a:rPr>
              <a:t>1.</a:t>
            </a:r>
            <a:endParaRPr lang="vi-VN" sz="3500" b="1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b="1" dirty="0">
                <a:solidFill>
                  <a:schemeClr val="bg1"/>
                </a:solidFill>
                <a:latin typeface="Muli Black" panose="00000A00000000000000" pitchFamily="2" charset="0"/>
              </a:rPr>
              <a:t>Tổng quan về đề tài</a:t>
            </a:r>
            <a:endParaRPr lang="vi-VN" sz="3500" b="1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73042" y="1263072"/>
            <a:ext cx="10486347" cy="4055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Xây dựng mô hình dự báo khách hàng rời bỏ để nhận diện sớm nguy cơ mất khách.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Phân tích các yếu tố ảnh hưởng, hỗ trợ doanh nghiệp đưa ra quyết định phù hợp.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Nâng cao tỷ lệ giữ chân khách hàng và hiệu quả kinh doanh.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tabLst>
                <a:tab pos="540385" algn="l"/>
              </a:tabLst>
            </a:pP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 bwMode="white">
          <a:xfrm>
            <a:off x="105453" y="1912689"/>
            <a:ext cx="1764140" cy="2775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b="1" dirty="0">
                <a:solidFill>
                  <a:schemeClr val="bg1"/>
                </a:solidFill>
                <a:latin typeface="Muli Black" panose="00000A00000000000000" pitchFamily="2" charset="0"/>
              </a:rPr>
              <a:t>1.</a:t>
            </a:r>
            <a:endParaRPr lang="vi-VN" sz="3500" b="1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b="1" dirty="0">
                <a:solidFill>
                  <a:schemeClr val="bg1"/>
                </a:solidFill>
                <a:latin typeface="Muli Black" panose="00000A00000000000000" pitchFamily="2" charset="0"/>
              </a:rPr>
              <a:t>Tổng quan về đề tài</a:t>
            </a:r>
            <a:endParaRPr lang="vi-VN" sz="3500" b="1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105453" y="367477"/>
            <a:ext cx="81527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1.2. Mục tiêu đề tài</a:t>
            </a:r>
            <a:endParaRPr lang="vi-VN" sz="2800" b="1" dirty="0">
              <a:latin typeface="Muli Black" panose="00000A00000000000000" pitchFamily="2" charset="0"/>
            </a:endParaRPr>
          </a:p>
        </p:txBody>
      </p:sp>
      <p:sp>
        <p:nvSpPr>
          <p:cNvPr id="8" name="Rectangle: Rounded Corners 7"/>
          <p:cNvSpPr/>
          <p:nvPr/>
        </p:nvSpPr>
        <p:spPr>
          <a:xfrm>
            <a:off x="2057400" y="157600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2725" y="1"/>
            <a:ext cx="1872318" cy="6857999"/>
          </a:xfrm>
          <a:prstGeom prst="rect">
            <a:avLst/>
          </a:prstGeom>
          <a:solidFill>
            <a:schemeClr val="accent2">
              <a:lumMod val="50000"/>
              <a:alpha val="5294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92280" y="1912689"/>
            <a:ext cx="1764140" cy="2775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b="1" dirty="0">
                <a:solidFill>
                  <a:schemeClr val="bg1"/>
                </a:solidFill>
                <a:latin typeface="Muli Black" panose="00000A00000000000000" pitchFamily="2" charset="0"/>
              </a:rPr>
              <a:t>1.</a:t>
            </a:r>
            <a:endParaRPr lang="vi-VN" sz="3500" b="1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b="1" dirty="0">
                <a:solidFill>
                  <a:schemeClr val="bg1"/>
                </a:solidFill>
                <a:latin typeface="Muli Black" panose="00000A00000000000000" pitchFamily="2" charset="0"/>
              </a:rPr>
              <a:t>Tổng quan về đề tài</a:t>
            </a:r>
            <a:endParaRPr lang="vi-VN" sz="3500" b="1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00200" y="1310889"/>
            <a:ext cx="10486347" cy="4123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b="1" dirty="0">
                <a:latin typeface="Roboto" panose="02000000000000000000"/>
                <a:ea typeface="Cambria" panose="02040503050406030204" pitchFamily="18" charset="0"/>
              </a:rPr>
              <a:t>Đối tượng: </a:t>
            </a: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Dữ liệu khách hàng và hành vi sử dụng dịch vụ.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b="1" dirty="0">
                <a:latin typeface="Roboto" panose="02000000000000000000"/>
                <a:ea typeface="Cambria" panose="02040503050406030204" pitchFamily="18" charset="0"/>
              </a:rPr>
              <a:t>Phạm vi: </a:t>
            </a: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Phân tích dữ liệu và ứng dụng DSS trong dự báo rời bỏ.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b="1" dirty="0">
                <a:latin typeface="Roboto" panose="02000000000000000000"/>
                <a:ea typeface="Cambria" panose="02040503050406030204" pitchFamily="18" charset="0"/>
              </a:rPr>
              <a:t>Phương pháp: </a:t>
            </a: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Tiền xử lý dữ liệu, xây dựng mô hình Decision Tree và đánh giá bằng 4 loại chỉ số đánh giá mô hình </a:t>
            </a: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như: Accuracy, Precision, Recall, F1-score.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tabLst>
                <a:tab pos="540385" algn="l"/>
              </a:tabLst>
            </a:pP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 bwMode="white">
          <a:xfrm>
            <a:off x="105453" y="1912689"/>
            <a:ext cx="1764140" cy="2775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b="1" dirty="0">
                <a:solidFill>
                  <a:schemeClr val="bg1"/>
                </a:solidFill>
                <a:latin typeface="Muli Black" panose="00000A00000000000000" pitchFamily="2" charset="0"/>
              </a:rPr>
              <a:t>1.</a:t>
            </a:r>
            <a:endParaRPr lang="vi-VN" sz="3500" b="1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b="1" dirty="0">
                <a:solidFill>
                  <a:schemeClr val="bg1"/>
                </a:solidFill>
                <a:latin typeface="Muli Black" panose="00000A00000000000000" pitchFamily="2" charset="0"/>
              </a:rPr>
              <a:t>Tổng quan về đề tài</a:t>
            </a:r>
            <a:endParaRPr lang="vi-VN" sz="3500" b="1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105453" y="367477"/>
            <a:ext cx="137669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1.3. Đối tượng nghiên cứu và phương pháp nghiên cứu</a:t>
            </a:r>
            <a:endParaRPr lang="vi-VN" sz="2800" b="1" dirty="0">
              <a:latin typeface="Muli Black" panose="00000A00000000000000" pitchFamily="2" charset="0"/>
            </a:endParaRPr>
          </a:p>
        </p:txBody>
      </p:sp>
      <p:sp>
        <p:nvSpPr>
          <p:cNvPr id="2" name="Rectangle: Rounded Corners 1"/>
          <p:cNvSpPr/>
          <p:nvPr/>
        </p:nvSpPr>
        <p:spPr>
          <a:xfrm>
            <a:off x="2057400" y="157600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872318" cy="6857999"/>
          </a:xfrm>
          <a:prstGeom prst="rect">
            <a:avLst/>
          </a:prstGeom>
          <a:solidFill>
            <a:schemeClr val="tx1">
              <a:lumMod val="95000"/>
              <a:lumOff val="5000"/>
              <a:alpha val="5254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/>
          <p:cNvSpPr/>
          <p:nvPr/>
        </p:nvSpPr>
        <p:spPr bwMode="white">
          <a:xfrm>
            <a:off x="121590" y="1717627"/>
            <a:ext cx="1629137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2.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Cơ 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sở 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lý thuyết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0200" y="1310889"/>
            <a:ext cx="10486347" cy="3501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Dự báo khách hàng rời bỏ nhằm xác định khả năng khách ngừng sử dụng dịch vụ.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Bài toán phân loại nhị phân: “rời bỏ” hoặc “không rời bỏ” dựa trên dữ liệu khách hàng.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Trong DSS, kết quả giúp doanh nghiệp nhận diện sớm và đưa ra quyết định giữ chân khách hàng.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14" name="Rectangle 13"/>
          <p:cNvSpPr/>
          <p:nvPr/>
        </p:nvSpPr>
        <p:spPr bwMode="white">
          <a:xfrm>
            <a:off x="105453" y="367477"/>
            <a:ext cx="112042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2.1. Bài toán dự báo khách hàng rời bỏ</a:t>
            </a:r>
            <a:endParaRPr lang="vi-VN" sz="2800" b="1" dirty="0">
              <a:latin typeface="Muli Black" panose="00000A00000000000000" pitchFamily="2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2057400" y="157600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58" b="4974"/>
          <a:stretch>
            <a:fillRect/>
          </a:stretch>
        </p:blipFill>
        <p:spPr>
          <a:xfrm>
            <a:off x="2759153" y="3591889"/>
            <a:ext cx="8168440" cy="326611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1"/>
            <a:ext cx="1872318" cy="6857999"/>
          </a:xfrm>
          <a:prstGeom prst="rect">
            <a:avLst/>
          </a:prstGeom>
          <a:solidFill>
            <a:schemeClr val="tx1">
              <a:lumMod val="95000"/>
              <a:lumOff val="5000"/>
              <a:alpha val="5254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/>
          <p:cNvSpPr/>
          <p:nvPr/>
        </p:nvSpPr>
        <p:spPr bwMode="white">
          <a:xfrm>
            <a:off x="121590" y="1717627"/>
            <a:ext cx="1629137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2.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Cơ 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sở 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lý thuyết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0200" y="1310889"/>
            <a:ext cx="10486347" cy="2316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Decision Tree là thuật toán phân loại dựa trên cấu trúc cây với các quy tắc “nếu – thì”.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Mô hình phân chia dữ liệu để dự đoán “rời bỏ/không rời bỏ”.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Ưu điểm: dễ hiểu, dễ diễn giải; cần tránh quá khớp khi xây dựng cây.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14" name="Rectangle 13"/>
          <p:cNvSpPr/>
          <p:nvPr/>
        </p:nvSpPr>
        <p:spPr bwMode="white">
          <a:xfrm>
            <a:off x="105454" y="367477"/>
            <a:ext cx="102537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2.2. Thuật toán cây quyết định</a:t>
            </a:r>
            <a:endParaRPr lang="vi-VN" sz="2800" b="1" dirty="0">
              <a:latin typeface="Muli Black" panose="00000A00000000000000" pitchFamily="2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2057400" y="157600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872318" cy="6857999"/>
          </a:xfrm>
          <a:prstGeom prst="rect">
            <a:avLst/>
          </a:prstGeom>
          <a:solidFill>
            <a:schemeClr val="tx1">
              <a:lumMod val="95000"/>
              <a:lumOff val="5000"/>
              <a:alpha val="5254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/>
          <p:cNvSpPr/>
          <p:nvPr/>
        </p:nvSpPr>
        <p:spPr bwMode="white">
          <a:xfrm>
            <a:off x="121590" y="1717627"/>
            <a:ext cx="1629137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2.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Cơ 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sở 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lý thuyết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14" name="Rectangle 13"/>
          <p:cNvSpPr/>
          <p:nvPr/>
        </p:nvSpPr>
        <p:spPr bwMode="white">
          <a:xfrm>
            <a:off x="2057400" y="367477"/>
            <a:ext cx="82183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2.3. Tiền xử lý dữ liệu trong bài toán churn</a:t>
            </a:r>
            <a:endParaRPr lang="vi-VN" sz="2800" b="1" dirty="0">
              <a:latin typeface="Muli Black" panose="00000A00000000000000" pitchFamily="2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2057400" y="157600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794" y="2176382"/>
            <a:ext cx="5020616" cy="273851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14476" y="1162610"/>
            <a:ext cx="5445830" cy="4532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Tiền xử lý dữ liệu là bước chuyển đổi dữ liệu thô thành dạng phù hợp cho mô hình.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Bao gồm: làm sạch dữ liệu, mã hóa, chuyển đổi và chuẩn hóa thuộc tính.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Giúp nâng cao chất lượng dữ liệu và độ chính xác dự đoán.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872318" cy="6857999"/>
          </a:xfrm>
          <a:prstGeom prst="rect">
            <a:avLst/>
          </a:prstGeom>
          <a:solidFill>
            <a:schemeClr val="tx1">
              <a:lumMod val="95000"/>
              <a:lumOff val="5000"/>
              <a:alpha val="5254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/>
          <p:cNvSpPr/>
          <p:nvPr/>
        </p:nvSpPr>
        <p:spPr bwMode="white">
          <a:xfrm>
            <a:off x="121590" y="1717627"/>
            <a:ext cx="1629137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2.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Cơ 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sở 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lý thuyết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14" name="Rectangle 13"/>
          <p:cNvSpPr/>
          <p:nvPr/>
        </p:nvSpPr>
        <p:spPr bwMode="white">
          <a:xfrm>
            <a:off x="2057401" y="367477"/>
            <a:ext cx="6781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2.4. Các thước đo đánh giá mô hình</a:t>
            </a:r>
            <a:endParaRPr lang="vi-VN" sz="2800" b="1" dirty="0">
              <a:latin typeface="Muli Black" panose="00000A00000000000000" pitchFamily="2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2057400" y="157600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514475" y="1162685"/>
            <a:ext cx="6660515" cy="559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i="1" dirty="0">
                <a:latin typeface="Roboto" panose="02000000000000000000"/>
                <a:ea typeface="Cambria" panose="02040503050406030204" pitchFamily="18" charset="0"/>
              </a:rPr>
              <a:t>Accuracy: </a:t>
            </a: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Tỷ lệ dự đoán đúng tổng thể (có thể sai lệch khi dữ liệu mất cân bằng).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i="1" dirty="0">
                <a:latin typeface="Roboto" panose="02000000000000000000"/>
                <a:ea typeface="Cambria" panose="02040503050406030204" pitchFamily="18" charset="0"/>
              </a:rPr>
              <a:t>Precision: </a:t>
            </a: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Độ chính xác khi dự đoán khách rời bỏ.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i="1" dirty="0">
                <a:latin typeface="Roboto" panose="02000000000000000000"/>
                <a:ea typeface="Cambria" panose="02040503050406030204" pitchFamily="18" charset="0"/>
              </a:rPr>
              <a:t>Recall: </a:t>
            </a: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Khả năng phát hiện đúng khách rời bỏ.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i="1" dirty="0">
                <a:latin typeface="Roboto" panose="02000000000000000000"/>
                <a:ea typeface="Cambria" panose="02040503050406030204" pitchFamily="18" charset="0"/>
              </a:rPr>
              <a:t>F1-score: </a:t>
            </a: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Cân bằng giữa Precision và Recall.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i="1" dirty="0">
                <a:latin typeface="Roboto" panose="02000000000000000000"/>
                <a:ea typeface="Cambria" panose="02040503050406030204" pitchFamily="18" charset="0"/>
              </a:rPr>
              <a:t>Confusion Matrix</a:t>
            </a: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: Phân tích dự đoán đúng/sai.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i="1" dirty="0">
                <a:latin typeface="Roboto" panose="02000000000000000000"/>
                <a:ea typeface="Cambria" panose="02040503050406030204" pitchFamily="18" charset="0"/>
              </a:rPr>
              <a:t>ROC-AUC: </a:t>
            </a: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Khả năng phân biệt 2 lớp.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i="1" dirty="0">
                <a:latin typeface="Roboto" panose="02000000000000000000"/>
                <a:ea typeface="Cambria" panose="02040503050406030204" pitchFamily="18" charset="0"/>
              </a:rPr>
              <a:t>Cross-validation: </a:t>
            </a: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Đánh giá độ ổn định mô hình.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pic>
        <p:nvPicPr>
          <p:cNvPr id="4" name="Picture 3" descr="Các chỉ số đánh giá mô hình churn"/>
          <p:cNvPicPr>
            <a:picLocks noChangeAspect="1"/>
          </p:cNvPicPr>
          <p:nvPr/>
        </p:nvPicPr>
        <p:blipFill>
          <a:blip r:embed="rId1"/>
          <a:srcRect t="10778" b="8074"/>
          <a:stretch>
            <a:fillRect/>
          </a:stretch>
        </p:blipFill>
        <p:spPr>
          <a:xfrm>
            <a:off x="8174990" y="1163320"/>
            <a:ext cx="4017010" cy="55975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25" y="1"/>
            <a:ext cx="1872318" cy="6857999"/>
          </a:xfrm>
          <a:prstGeom prst="rect">
            <a:avLst/>
          </a:prstGeom>
          <a:solidFill>
            <a:srgbClr val="006699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-22426" y="1586462"/>
            <a:ext cx="1978644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3.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Phương pháp thực hiện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99792" y="403340"/>
            <a:ext cx="10064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dirty="0"/>
              <a:t> 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472565" y="1136650"/>
            <a:ext cx="10487025" cy="3570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vi-VN" sz="2400" b="1" dirty="0">
                <a:latin typeface="Roboto" panose="02000000000000000000"/>
                <a:ea typeface="Cambria" panose="02040503050406030204" pitchFamily="18" charset="0"/>
              </a:rPr>
              <a:t>Tập dữ liệu sử dụng:</a:t>
            </a:r>
            <a:endParaRPr lang="vi-VN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Dữ liệu Telco Customer Churn (CSV) gồm 7.043 khách hàng, 21 thuộc tính về nhân khẩu học, dịch vụ và thanh toán.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Biến mục tiêu: Churn (Yes/No) – bài toán phân loại nhị phân.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Nhóm thuộc tính: nhân khẩu học, dịch vụ, tài khoản &amp; thanh toán.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Phù hợp xây dựng mô hình dự báo và hỗ trợ DSS.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714375" lvl="1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tabLst>
                <a:tab pos="540385" algn="l"/>
              </a:tabLst>
            </a:pP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white">
          <a:xfrm>
            <a:off x="2057401" y="367477"/>
            <a:ext cx="31666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3.1. Tập dữ liệu</a:t>
            </a:r>
            <a:endParaRPr lang="vi-VN" sz="2800" b="1" dirty="0">
              <a:latin typeface="Muli Black" panose="00000A00000000000000" pitchFamily="2" charset="0"/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2057400" y="157600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9615" y="4743450"/>
            <a:ext cx="10074275" cy="16275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25" y="1"/>
            <a:ext cx="1872318" cy="6857999"/>
          </a:xfrm>
          <a:prstGeom prst="rect">
            <a:avLst/>
          </a:prstGeom>
          <a:solidFill>
            <a:srgbClr val="006699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-22426" y="1586462"/>
            <a:ext cx="1978644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3.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Phương pháp thực hiện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99792" y="403340"/>
            <a:ext cx="10064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dirty="0"/>
              <a:t> 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472565" y="1136650"/>
            <a:ext cx="10591800" cy="3638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vi-VN" sz="2400" b="1" dirty="0">
                <a:latin typeface="Roboto" panose="02000000000000000000"/>
                <a:ea typeface="Cambria" panose="02040503050406030204" pitchFamily="18" charset="0"/>
              </a:rPr>
              <a:t>Tiền xử lý dữ liệu:</a:t>
            </a:r>
            <a:endParaRPr lang="vi-VN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Loại bỏ customerID (không có ý nghĩa dự đoán).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Chuyển TotalCharges về dạng số, xử lý thiếu bằng median.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Mã hóa biến nhị phân (Yes/No → 1/0) và xử lý giá trị thiếu.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Mã hóa các biến phân loại (gender, Contract, PaymentMethod,…).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Lưu dữ liệu sau xử lý → sẵn sàng huấn luyện mô hình.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white">
          <a:xfrm>
            <a:off x="2057401" y="367477"/>
            <a:ext cx="31666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3.1. Tập dữ liệu</a:t>
            </a:r>
            <a:endParaRPr lang="vi-VN" sz="2800" b="1" dirty="0">
              <a:latin typeface="Muli Black" panose="00000A00000000000000" pitchFamily="2" charset="0"/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2057400" y="157600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b="19990"/>
          <a:stretch>
            <a:fillRect/>
          </a:stretch>
        </p:blipFill>
        <p:spPr>
          <a:xfrm>
            <a:off x="2057400" y="4620895"/>
            <a:ext cx="10056495" cy="20967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25" y="1"/>
            <a:ext cx="1872318" cy="6857999"/>
          </a:xfrm>
          <a:prstGeom prst="rect">
            <a:avLst/>
          </a:prstGeom>
          <a:solidFill>
            <a:srgbClr val="006699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-22426" y="1586462"/>
            <a:ext cx="1978644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3.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Phương pháp thực hiện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99792" y="403340"/>
            <a:ext cx="10064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dirty="0"/>
              <a:t> 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472725" y="1136437"/>
            <a:ext cx="10591800" cy="3501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vi-VN" sz="2400" b="1" dirty="0">
                <a:latin typeface="Roboto" panose="02000000000000000000"/>
                <a:ea typeface="Cambria" panose="02040503050406030204" pitchFamily="18" charset="0"/>
              </a:rPr>
              <a:t>Tập dữ liệu sau khi xử lý:</a:t>
            </a:r>
            <a:endParaRPr lang="vi-VN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Dữ liệu sau xử lý được lưu dạng clean_dataset.csv, đã chuẩn hóa và đồng nhất.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Loại bỏ customerID, xử lý dữ liệu số và giá trị thiếu.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Mã hóa toàn bộ biến (nhị phân và phân loại) về dạng số.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Sẵn sàng cho chia dữ liệu, huấn luyện và đánh giá mô hình.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white">
          <a:xfrm>
            <a:off x="2057401" y="367477"/>
            <a:ext cx="31666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3.1. Tập dữ liệu</a:t>
            </a:r>
            <a:endParaRPr lang="vi-VN" sz="2800" b="1" dirty="0">
              <a:latin typeface="Muli Black" panose="00000A00000000000000" pitchFamily="2" charset="0"/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2057400" y="157600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b="19990"/>
          <a:stretch>
            <a:fillRect/>
          </a:stretch>
        </p:blipFill>
        <p:spPr>
          <a:xfrm>
            <a:off x="2057400" y="4620895"/>
            <a:ext cx="10056495" cy="20967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xml.drawio"/>
          <p:cNvPicPr/>
          <p:nvPr/>
        </p:nvPicPr>
        <p:blipFill>
          <a:blip r:embed="rId1"/>
          <a:srcRect t="2193" r="10997" b="28276"/>
          <a:stretch>
            <a:fillRect/>
          </a:stretch>
        </p:blipFill>
        <p:spPr>
          <a:xfrm>
            <a:off x="7211785" y="2197096"/>
            <a:ext cx="4914901" cy="36531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2725" y="1"/>
            <a:ext cx="1872318" cy="6857999"/>
          </a:xfrm>
          <a:prstGeom prst="rect">
            <a:avLst/>
          </a:prstGeom>
          <a:solidFill>
            <a:srgbClr val="006699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-22426" y="1586462"/>
            <a:ext cx="1978644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3.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Phương pháp thực hiện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99792" y="403340"/>
            <a:ext cx="10064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dirty="0"/>
              <a:t> 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472725" y="1136437"/>
            <a:ext cx="5922304" cy="5717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vi-VN" sz="2400" b="1" dirty="0">
                <a:latin typeface="Roboto" panose="02000000000000000000"/>
                <a:ea typeface="Cambria" panose="02040503050406030204" pitchFamily="18" charset="0"/>
              </a:rPr>
              <a:t>Giải pháp đề xuất:</a:t>
            </a:r>
            <a:endParaRPr lang="vi-VN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Hệ thống theo kiến trúc 3 lớp: Frontend (React), Backend (NestJS), ML Service (Python).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Frontend gửi dữ liệu → Backend xử lý &amp; lưu trữ (MongoDB) → ML Service dự đoán.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Backend trả kết quả, đánh giá rủi ro và hiển thị cho người dùng.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white">
          <a:xfrm>
            <a:off x="2057400" y="367477"/>
            <a:ext cx="52196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3.2. Phương pháp thực hiện</a:t>
            </a:r>
            <a:endParaRPr lang="vi-VN" sz="2800" b="1" dirty="0">
              <a:latin typeface="Muli Black" panose="00000A00000000000000" pitchFamily="2" charset="0"/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2057400" y="157600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25" y="1"/>
            <a:ext cx="1872318" cy="6857999"/>
          </a:xfrm>
          <a:prstGeom prst="rect">
            <a:avLst/>
          </a:prstGeom>
          <a:solidFill>
            <a:srgbClr val="006699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-22426" y="1586462"/>
            <a:ext cx="1978644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3.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Phương pháp thực hiện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99792" y="403340"/>
            <a:ext cx="10064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dirty="0"/>
              <a:t> 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472725" y="1136437"/>
            <a:ext cx="5922304" cy="4199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vi-VN" sz="2400" b="1" dirty="0">
                <a:latin typeface="Roboto" panose="02000000000000000000"/>
                <a:ea typeface="Cambria" panose="02040503050406030204" pitchFamily="18" charset="0"/>
              </a:rPr>
              <a:t>Các thước đo sử dụng:</a:t>
            </a:r>
            <a:endParaRPr lang="vi-VN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Accuracy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Precision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Recall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F1-score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Confusion Matrix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ROC-AUC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white">
          <a:xfrm>
            <a:off x="2057400" y="367477"/>
            <a:ext cx="52196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3.2. Phương pháp thực hiện</a:t>
            </a:r>
            <a:endParaRPr lang="vi-VN" sz="2800" b="1" dirty="0">
              <a:latin typeface="Muli Black" panose="00000A00000000000000" pitchFamily="2" charset="0"/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2057400" y="157600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057400" y="5582285"/>
            <a:ext cx="9902190" cy="891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400">
                <a:latin typeface="Roboto" panose="02000000000000000000" charset="0"/>
                <a:cs typeface="Roboto" panose="02000000000000000000" charset="0"/>
              </a:rPr>
              <a:t>Recall </a:t>
            </a:r>
            <a:r>
              <a:rPr lang="en-US" altLang="en-US" sz="2400">
                <a:latin typeface="Roboto" panose="02000000000000000000" charset="0"/>
                <a:cs typeface="Roboto" panose="02000000000000000000" charset="0"/>
              </a:rPr>
              <a:t>đ</a:t>
            </a:r>
            <a:r>
              <a:rPr lang="en-US" altLang="en-US" sz="2400">
                <a:latin typeface="Roboto" panose="02000000000000000000" charset="0"/>
                <a:cs typeface="Roboto" panose="02000000000000000000" charset="0"/>
              </a:rPr>
              <a:t>ặc biệt quan trọng vì giúp giảm bỏ sót các khách hàng có nguy cơ rời bỏ.</a:t>
            </a:r>
            <a:endParaRPr lang="en-US" altLang="en-US" sz="2400">
              <a:latin typeface="Roboto" panose="02000000000000000000" charset="0"/>
              <a:cs typeface="Roboto" panose="02000000000000000000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25" y="-58056"/>
            <a:ext cx="1872318" cy="6857999"/>
          </a:xfrm>
          <a:prstGeom prst="rect">
            <a:avLst/>
          </a:prstGeom>
          <a:solidFill>
            <a:schemeClr val="accent5">
              <a:lumMod val="5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47647" y="1496284"/>
            <a:ext cx="1872318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4.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Kết quả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thực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nghiệm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86230" y="1478915"/>
            <a:ext cx="5408930" cy="345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vi-VN" sz="2400" b="1" dirty="0">
                <a:latin typeface="Roboto" panose="02000000000000000000"/>
                <a:ea typeface="Cambria" panose="02040503050406030204" pitchFamily="18" charset="0"/>
              </a:rPr>
              <a:t>Đánh giá kết quả thực </a:t>
            </a:r>
            <a:r>
              <a:rPr lang="vi-VN" sz="2400" b="1" dirty="0">
                <a:latin typeface="Roboto" panose="02000000000000000000"/>
                <a:ea typeface="Cambria" panose="02040503050406030204" pitchFamily="18" charset="0"/>
              </a:rPr>
              <a:t>nghiệm</a:t>
            </a:r>
            <a:endParaRPr lang="vi-VN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Kết quả phân tích cho thấy loại hợp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ồng ảnh h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ởng mạnh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ến khả n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ă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ng rời bỏ.</a:t>
            </a:r>
            <a:r>
              <a:rPr lang="vi-VN" altLang="en-US" sz="2400" dirty="0">
                <a:latin typeface="Roboto" panose="02000000000000000000"/>
                <a:ea typeface="Cambria" panose="02040503050406030204" pitchFamily="18" charset="0"/>
              </a:rPr>
              <a:t>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Khách hàng sử dụng hợp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ồng theo tháng có tỷ lệ churn cao nhất, khoảng 42.7%.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2057400" y="367477"/>
            <a:ext cx="614362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4.1. Kết quả phân tích dữ </a:t>
            </a:r>
            <a:r>
              <a:rPr lang="vi-VN" sz="2800" b="1" dirty="0">
                <a:latin typeface="Muli Black" panose="00000A00000000000000" pitchFamily="2" charset="0"/>
              </a:rPr>
              <a:t>liệu</a:t>
            </a:r>
            <a:endParaRPr lang="vi-VN" sz="2800" b="1" dirty="0">
              <a:latin typeface="Muli Black" panose="00000A00000000000000" pitchFamily="2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2057400" y="193463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download"/>
          <p:cNvPicPr>
            <a:picLocks noChangeAspect="1"/>
          </p:cNvPicPr>
          <p:nvPr>
            <p:ph idx="1"/>
          </p:nvPr>
        </p:nvPicPr>
        <p:blipFill>
          <a:blip r:embed="rId1"/>
          <a:srcRect t="111" b="7181"/>
          <a:stretch>
            <a:fillRect/>
          </a:stretch>
        </p:blipFill>
        <p:spPr>
          <a:xfrm>
            <a:off x="6995160" y="1317625"/>
            <a:ext cx="4964430" cy="3434080"/>
          </a:xfrm>
        </p:spPr>
      </p:pic>
      <p:sp>
        <p:nvSpPr>
          <p:cNvPr id="10" name="TextBox 5"/>
          <p:cNvSpPr txBox="1"/>
          <p:nvPr/>
        </p:nvSpPr>
        <p:spPr>
          <a:xfrm>
            <a:off x="1586230" y="4932680"/>
            <a:ext cx="10373360" cy="1647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Trong khi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ó, hợp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ồng 1 n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ă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m có tỷ lệ churn khoảng 11.3%, và hợp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ồng 2 n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ă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m thấp nhất, khoảng 2.8%.</a:t>
            </a:r>
            <a:r>
              <a:rPr lang="vi-VN" altLang="en-US" sz="2400" dirty="0">
                <a:latin typeface="Roboto" panose="02000000000000000000"/>
                <a:ea typeface="Cambria" panose="02040503050406030204" pitchFamily="18" charset="0"/>
              </a:rPr>
              <a:t>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iều này cho thấy hợp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ồng dài hạn góp phần giữ chân khách hàng tốt hơn.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25" y="-58056"/>
            <a:ext cx="1872318" cy="6857999"/>
          </a:xfrm>
          <a:prstGeom prst="rect">
            <a:avLst/>
          </a:prstGeom>
          <a:solidFill>
            <a:schemeClr val="accent5">
              <a:lumMod val="5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47647" y="1496284"/>
            <a:ext cx="1872318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4.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Kết quả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thực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nghiệm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72565" y="1136650"/>
            <a:ext cx="10487660" cy="5662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Mô hình Decision Tree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ã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ợc huấn luyện trên tập dữ liệu 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Telco Customer Churn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Mô hình có khả n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ă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ng phân loại khách hàng thành hai nhóm: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 rời bỏ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và 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không rời bỏ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Cấu trúc cây quyết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ịnh giúp kết quả dễ hiểu và dễ diễn giải.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ây là cơ sở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ể 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hỗ trợ ra quyết 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ịnh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 trong bài toán churn.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2057400" y="367665"/>
            <a:ext cx="675830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4.2. </a:t>
            </a:r>
            <a:r>
              <a:rPr lang="en-US" altLang="en-US" sz="2800" b="1" dirty="0">
                <a:latin typeface="Muli Black" panose="00000A00000000000000" pitchFamily="2" charset="0"/>
              </a:rPr>
              <a:t>Kết quả huấn luyện mô hình</a:t>
            </a:r>
            <a:endParaRPr lang="en-US" altLang="en-US" sz="2800" b="1" dirty="0">
              <a:latin typeface="Muli Black" panose="00000A00000000000000" pitchFamily="2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2057400" y="193463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25" y="-58056"/>
            <a:ext cx="1872318" cy="6857999"/>
          </a:xfrm>
          <a:prstGeom prst="rect">
            <a:avLst/>
          </a:prstGeom>
          <a:solidFill>
            <a:schemeClr val="accent5">
              <a:lumMod val="5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47647" y="1496284"/>
            <a:ext cx="1872318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4.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Kết quả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thực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nghiệm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72565" y="1136650"/>
            <a:ext cx="10297795" cy="4084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Các chỉ số 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o l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ờng (Metrics)</a:t>
            </a:r>
            <a:endParaRPr lang="en-US" altLang="en-US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Accuracy (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ộ chính xác):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ạt ~80%,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ảm bảo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ộ tin cậy trong việc phân loại khách hàng.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Recall (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ộ nhạy): Tối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u hóa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ể nhận diện tối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a nhóm khách hàng thực sự có nguy cơ rời bỏ (giảm thiểu bỏ sót).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F1-Score: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ạt sự cân bằng giữa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ộ chính xác và khả n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ă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ng bao phủ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ối t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ợng rủi ro.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2057400" y="367665"/>
            <a:ext cx="654748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4.3. </a:t>
            </a:r>
            <a:r>
              <a:rPr lang="en-US" altLang="en-US" sz="2800" b="1" dirty="0">
                <a:latin typeface="Muli Black" panose="00000A00000000000000" pitchFamily="2" charset="0"/>
              </a:rPr>
              <a:t>Đ</a:t>
            </a:r>
            <a:r>
              <a:rPr lang="en-US" altLang="en-US" sz="2800" b="1" dirty="0">
                <a:latin typeface="Muli Black" panose="00000A00000000000000" pitchFamily="2" charset="0"/>
              </a:rPr>
              <a:t>ánh giá hiệu quả mô hình</a:t>
            </a:r>
            <a:endParaRPr lang="en-US" altLang="en-US" sz="2800" b="1" dirty="0">
              <a:latin typeface="Muli Black" panose="00000A00000000000000" pitchFamily="2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2057400" y="193463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25" y="-58056"/>
            <a:ext cx="1872318" cy="6857999"/>
          </a:xfrm>
          <a:prstGeom prst="rect">
            <a:avLst/>
          </a:prstGeom>
          <a:solidFill>
            <a:schemeClr val="accent5">
              <a:lumMod val="5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47647" y="1496284"/>
            <a:ext cx="1872318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4.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Kết quả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thực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nghiệm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72565" y="1136650"/>
            <a:ext cx="10297795" cy="2640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Ma trận nhầm lẫn (Confusion Matrix)</a:t>
            </a:r>
            <a:endParaRPr lang="en-US" altLang="en-US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Giúp xác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ịnh tỷ lệ dự báo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úng (True Positive) và các sai sót của mô hình.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Hệ thống tập trung giảm thiểu tỷ lệ False Negative (khách hàng sắp rời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i nh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ng không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ợc phát hiện).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2057400" y="367665"/>
            <a:ext cx="654748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4.3. </a:t>
            </a:r>
            <a:r>
              <a:rPr lang="en-US" altLang="en-US" sz="2800" b="1" dirty="0">
                <a:latin typeface="Muli Black" panose="00000A00000000000000" pitchFamily="2" charset="0"/>
              </a:rPr>
              <a:t>Đ</a:t>
            </a:r>
            <a:r>
              <a:rPr lang="en-US" altLang="en-US" sz="2800" b="1" dirty="0">
                <a:latin typeface="Muli Black" panose="00000A00000000000000" pitchFamily="2" charset="0"/>
              </a:rPr>
              <a:t>ánh giá hiệu quả mô hình</a:t>
            </a:r>
            <a:endParaRPr lang="en-US" altLang="en-US" sz="2800" b="1" dirty="0">
              <a:latin typeface="Muli Black" panose="00000A00000000000000" pitchFamily="2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2057400" y="193463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5"/>
          <p:cNvSpPr txBox="1"/>
          <p:nvPr/>
        </p:nvSpPr>
        <p:spPr>
          <a:xfrm>
            <a:off x="1472565" y="3641725"/>
            <a:ext cx="10297795" cy="3158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Ma trận nhầm lẫn (Confusion Matrix)</a:t>
            </a:r>
            <a:endParaRPr lang="en-US" altLang="en-US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Contract: Hợp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ồng ngắn hạn (tháng) có nguy cơ rời bỏ cao nhất.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Monthly Charges: C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ớc phí cao là rào cản lớn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ối với sự gắn bó của khách hàng.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Tenure: Khách hàng mới có tỉ lệ rời dịch vụ cao hơn khách hàng lâu n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ă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m.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25" y="-58056"/>
            <a:ext cx="1872318" cy="6857999"/>
          </a:xfrm>
          <a:prstGeom prst="rect">
            <a:avLst/>
          </a:prstGeom>
          <a:solidFill>
            <a:schemeClr val="accent5">
              <a:lumMod val="5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47647" y="1496284"/>
            <a:ext cx="1872318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4.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Kết quả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thực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nghiệm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72565" y="1136650"/>
            <a:ext cx="10297795" cy="312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vi-VN" altLang="en-US" sz="2400" b="1" dirty="0">
                <a:latin typeface="Roboto" panose="02000000000000000000"/>
                <a:ea typeface="Cambria" panose="02040503050406030204" pitchFamily="18" charset="0"/>
              </a:rPr>
              <a:t>Về 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Khả n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ă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ng hỗ trợ ra quyết 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ịnh</a:t>
            </a:r>
            <a:endParaRPr lang="en-US" altLang="en-US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Tính diễn giải: Mô hình Cây quyết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ịnh cung cấp các quy tắc logic (If-Then) minh bạch.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Giá trị: Giúp nhà quản l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ý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hiểu r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õ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l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ý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do tại sao khách hàng rời bỏ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ể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a ra chính sách tác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ộng chính xác (giảm phí, tặng quà hoặc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ổi gói dịch vụ)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2057400" y="367665"/>
            <a:ext cx="654748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4.3. </a:t>
            </a:r>
            <a:r>
              <a:rPr lang="en-US" altLang="en-US" sz="2800" b="1" dirty="0">
                <a:latin typeface="Muli Black" panose="00000A00000000000000" pitchFamily="2" charset="0"/>
              </a:rPr>
              <a:t>Đ</a:t>
            </a:r>
            <a:r>
              <a:rPr lang="en-US" altLang="en-US" sz="2800" b="1" dirty="0">
                <a:latin typeface="Muli Black" panose="00000A00000000000000" pitchFamily="2" charset="0"/>
              </a:rPr>
              <a:t>ánh giá hiệu quả mô hình</a:t>
            </a:r>
            <a:endParaRPr lang="en-US" altLang="en-US" sz="2800" b="1" dirty="0">
              <a:latin typeface="Muli Black" panose="00000A00000000000000" pitchFamily="2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2057400" y="193463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5"/>
          <p:cNvSpPr txBox="1"/>
          <p:nvPr/>
        </p:nvSpPr>
        <p:spPr>
          <a:xfrm>
            <a:off x="1472565" y="4277360"/>
            <a:ext cx="1029779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charset="0"/>
              <a:buChar char="Ø"/>
              <a:tabLst>
                <a:tab pos="540385" algn="l"/>
              </a:tabLst>
            </a:pP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Mô hình 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ạt 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ộ chính xác ~80%, giúp nhận diện sớm rủi ro thông qua các quy tắc logic minh bạch (loại hợp 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ồng, chi phí) 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ể tối 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u hóa quyết 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ịnh giữ chân khách hàng.</a:t>
            </a:r>
            <a:endParaRPr lang="en-US" altLang="en-US" sz="2400" b="1" dirty="0">
              <a:latin typeface="Roboto" panose="0200000000000000000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25" y="-58056"/>
            <a:ext cx="1872318" cy="6857999"/>
          </a:xfrm>
          <a:prstGeom prst="rect">
            <a:avLst/>
          </a:prstGeom>
          <a:solidFill>
            <a:schemeClr val="accent5">
              <a:lumMod val="5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47647" y="1496284"/>
            <a:ext cx="1872318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4.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Kết quả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thực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nghiệm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2057400" y="367665"/>
            <a:ext cx="549338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4.</a:t>
            </a:r>
            <a:r>
              <a:rPr lang="vi-VN" sz="2800" b="1" dirty="0">
                <a:latin typeface="Muli Black" panose="00000A00000000000000" pitchFamily="2" charset="0"/>
              </a:rPr>
              <a:t>4. </a:t>
            </a:r>
            <a:r>
              <a:rPr lang="vi-VN" altLang="en-US" sz="2800" b="1" dirty="0">
                <a:latin typeface="Muli Black" panose="00000A00000000000000" pitchFamily="2" charset="0"/>
              </a:rPr>
              <a:t>Giao diện </a:t>
            </a:r>
            <a:r>
              <a:rPr lang="vi-VN" altLang="en-US" sz="2800" b="1" dirty="0">
                <a:latin typeface="Muli Black" panose="00000A00000000000000" pitchFamily="2" charset="0"/>
              </a:rPr>
              <a:t>Dashboard</a:t>
            </a:r>
            <a:endParaRPr lang="vi-VN" altLang="en-US" sz="2800" b="1" dirty="0">
              <a:latin typeface="Muli Black" panose="00000A00000000000000" pitchFamily="2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2057400" y="193463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1511300" y="1216025"/>
            <a:ext cx="4992370" cy="54571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Các thành phần chính</a:t>
            </a:r>
            <a:endParaRPr lang="en-US" altLang="en-US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Tổng số khách hàng: 7032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altLang="en-US" sz="2400" dirty="0">
                <a:latin typeface="Roboto" panose="02000000000000000000"/>
                <a:ea typeface="Cambria" panose="02040503050406030204" pitchFamily="18" charset="0"/>
              </a:rPr>
              <a:t>Tỷ lệ rời bỏ: 26.58%</a:t>
            </a:r>
            <a:endParaRPr lang="vi-VN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Tổng số dự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oán: 16</a:t>
            </a:r>
            <a:endParaRPr lang="vi-VN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Khách hàng rủi ro cao: 3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vi-VN" altLang="en-US" sz="2400" b="1" dirty="0">
                <a:latin typeface="Roboto" panose="02000000000000000000"/>
                <a:ea typeface="Cambria" panose="02040503050406030204" pitchFamily="18" charset="0"/>
              </a:rPr>
              <a:t>Phân phối Churn</a:t>
            </a:r>
            <a:endParaRPr lang="en-US" altLang="en-US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altLang="en-US" sz="2400"/>
              <a:t>Khách hàng duy trì: 5163</a:t>
            </a:r>
            <a:endParaRPr lang="vi-VN" altLang="en-US" sz="2400"/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altLang="en-US" sz="2400"/>
              <a:t>Khách hàng rời bỏ: 1869</a:t>
            </a:r>
            <a:endParaRPr lang="vi-VN" altLang="en-US" sz="2400"/>
          </a:p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vi-VN" altLang="en-US" sz="2400" b="1" dirty="0">
                <a:latin typeface="Roboto" panose="02000000000000000000"/>
                <a:ea typeface="Cambria" panose="02040503050406030204" pitchFamily="18" charset="0"/>
              </a:rPr>
              <a:t>Phân phối mức độ rủi ro</a:t>
            </a:r>
            <a:endParaRPr lang="en-US" altLang="en-US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altLang="en-US" sz="2400"/>
              <a:t>Thấp, trung bình, cao</a:t>
            </a:r>
            <a:endParaRPr lang="vi-VN" altLang="en-US" sz="2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670" y="1496060"/>
            <a:ext cx="5455920" cy="298386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25" y="-58056"/>
            <a:ext cx="1872318" cy="6857999"/>
          </a:xfrm>
          <a:prstGeom prst="rect">
            <a:avLst/>
          </a:prstGeom>
          <a:solidFill>
            <a:schemeClr val="accent5">
              <a:lumMod val="5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47647" y="1496284"/>
            <a:ext cx="1872318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4.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Kết quả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thực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nghiệm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2057400" y="367665"/>
            <a:ext cx="558927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4.</a:t>
            </a:r>
            <a:r>
              <a:rPr lang="vi-VN" sz="2800" b="1" dirty="0">
                <a:latin typeface="Muli Black" panose="00000A00000000000000" pitchFamily="2" charset="0"/>
              </a:rPr>
              <a:t>5. </a:t>
            </a:r>
            <a:r>
              <a:rPr lang="vi-VN" altLang="en-US" sz="2800" b="1" dirty="0">
                <a:latin typeface="Muli Black" panose="00000A00000000000000" pitchFamily="2" charset="0"/>
              </a:rPr>
              <a:t>Giao diện khách </a:t>
            </a:r>
            <a:r>
              <a:rPr lang="vi-VN" altLang="en-US" sz="2800" b="1" dirty="0">
                <a:latin typeface="Muli Black" panose="00000A00000000000000" pitchFamily="2" charset="0"/>
              </a:rPr>
              <a:t>hàng</a:t>
            </a:r>
            <a:endParaRPr lang="vi-VN" altLang="en-US" sz="2800" b="1" dirty="0">
              <a:latin typeface="Muli Black" panose="00000A00000000000000" pitchFamily="2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2057400" y="193463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1511300" y="1216025"/>
            <a:ext cx="4992370" cy="41567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Các </a:t>
            </a:r>
            <a:r>
              <a:rPr lang="vi-VN" altLang="en-US" sz="2400" b="1" dirty="0">
                <a:latin typeface="Roboto" panose="02000000000000000000"/>
                <a:ea typeface="Cambria" panose="02040503050406030204" pitchFamily="18" charset="0"/>
              </a:rPr>
              <a:t>chức năng chính</a:t>
            </a:r>
            <a:endParaRPr lang="en-US" altLang="en-US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Quản l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ý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 danh sách và thông tin khách hàng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Tìm kiếm, lọc và cập nhật dữ liệu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altLang="en-US" sz="2400" dirty="0">
                <a:latin typeface="Roboto" panose="02000000000000000000"/>
                <a:ea typeface="Cambria" panose="02040503050406030204" pitchFamily="18" charset="0"/>
              </a:rPr>
              <a:t>Thêm mới khách hàng và nhập dữ liệu từ file CSV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vi-VN" altLang="en-US" sz="2400"/>
          </a:p>
        </p:txBody>
      </p:sp>
      <p:sp>
        <p:nvSpPr>
          <p:cNvPr id="2" name="Text Box 1"/>
          <p:cNvSpPr txBox="1"/>
          <p:nvPr/>
        </p:nvSpPr>
        <p:spPr>
          <a:xfrm>
            <a:off x="1511300" y="4789170"/>
            <a:ext cx="10448290" cy="2068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vi-VN" altLang="en-US" sz="2400" b="1" dirty="0">
                <a:latin typeface="Roboto" panose="02000000000000000000"/>
                <a:ea typeface="Cambria" panose="02040503050406030204" pitchFamily="18" charset="0"/>
              </a:rPr>
              <a:t>Ý nghĩa</a:t>
            </a:r>
            <a:endParaRPr lang="en-US" altLang="en-US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714375" lvl="1" indent="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Giúp doanh nghiệp quản l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ý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 tập trung dữ liệu khách hàng, nhanh chóng phát hiện nhóm có nguy cơ rời bỏ và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a ra các quyết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ịnh kịp thời nhằm nâng cao hiệu quả giữ chân khách hàng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endParaRPr lang="en-US" sz="24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3850" y="1496060"/>
            <a:ext cx="5248910" cy="33604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25" y="-58056"/>
            <a:ext cx="1872318" cy="6857999"/>
          </a:xfrm>
          <a:prstGeom prst="rect">
            <a:avLst/>
          </a:prstGeom>
          <a:solidFill>
            <a:schemeClr val="accent5">
              <a:lumMod val="5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47647" y="1496284"/>
            <a:ext cx="1872318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4.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Kết quả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thực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nghiệm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2057400" y="367665"/>
            <a:ext cx="495744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4.</a:t>
            </a:r>
            <a:r>
              <a:rPr lang="vi-VN" sz="2800" b="1" dirty="0">
                <a:latin typeface="Muli Black" panose="00000A00000000000000" pitchFamily="2" charset="0"/>
              </a:rPr>
              <a:t>6. </a:t>
            </a:r>
            <a:r>
              <a:rPr lang="vi-VN" altLang="en-US" sz="2800" b="1" dirty="0">
                <a:latin typeface="Muli Black" panose="00000A00000000000000" pitchFamily="2" charset="0"/>
              </a:rPr>
              <a:t>Giao diện dự </a:t>
            </a:r>
            <a:r>
              <a:rPr lang="vi-VN" altLang="en-US" sz="2800" b="1" dirty="0">
                <a:latin typeface="Muli Black" panose="00000A00000000000000" pitchFamily="2" charset="0"/>
              </a:rPr>
              <a:t>đoán</a:t>
            </a:r>
            <a:endParaRPr lang="vi-VN" altLang="en-US" sz="2800" b="1" dirty="0">
              <a:latin typeface="Muli Black" panose="00000A00000000000000" pitchFamily="2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2057400" y="193463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1511300" y="1216025"/>
            <a:ext cx="4992370" cy="41567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Các </a:t>
            </a:r>
            <a:r>
              <a:rPr lang="vi-VN" altLang="en-US" sz="2400" b="1" dirty="0">
                <a:latin typeface="Roboto" panose="02000000000000000000"/>
                <a:ea typeface="Cambria" panose="02040503050406030204" pitchFamily="18" charset="0"/>
              </a:rPr>
              <a:t>chức năng chính</a:t>
            </a:r>
            <a:endParaRPr lang="en-US" altLang="en-US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altLang="en-US" sz="2400" dirty="0">
                <a:latin typeface="Roboto" panose="02000000000000000000"/>
                <a:ea typeface="Cambria" panose="02040503050406030204" pitchFamily="18" charset="0"/>
              </a:rPr>
              <a:t>Nhập thông tin khách hàng để dự đoán churn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altLang="en-US" sz="2400" dirty="0">
                <a:latin typeface="Roboto" panose="02000000000000000000"/>
                <a:ea typeface="Cambria" panose="02040503050406030204" pitchFamily="18" charset="0"/>
              </a:rPr>
              <a:t>Hỗ trợ dự đoán nhanh và biểu mẫu đầy </a:t>
            </a:r>
            <a:r>
              <a:rPr lang="vi-VN" altLang="en-US" sz="2400" dirty="0">
                <a:latin typeface="Roboto" panose="02000000000000000000"/>
                <a:ea typeface="Cambria" panose="02040503050406030204" pitchFamily="18" charset="0"/>
              </a:rPr>
              <a:t>đủ 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altLang="en-US" sz="2400" dirty="0">
                <a:latin typeface="Roboto" panose="02000000000000000000"/>
                <a:ea typeface="Cambria" panose="02040503050406030204" pitchFamily="18" charset="0"/>
              </a:rPr>
              <a:t>Hiển thị mức độ rủi ro và theo dõi lịch sử dự đoán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vi-VN" altLang="en-US" sz="2400"/>
          </a:p>
        </p:txBody>
      </p:sp>
      <p:sp>
        <p:nvSpPr>
          <p:cNvPr id="2" name="Text Box 1"/>
          <p:cNvSpPr txBox="1"/>
          <p:nvPr/>
        </p:nvSpPr>
        <p:spPr>
          <a:xfrm>
            <a:off x="1511300" y="4789170"/>
            <a:ext cx="10448290" cy="2068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vi-VN" altLang="en-US" sz="2400" b="1" dirty="0">
                <a:latin typeface="Roboto" panose="02000000000000000000"/>
                <a:ea typeface="Cambria" panose="02040503050406030204" pitchFamily="18" charset="0"/>
              </a:rPr>
              <a:t>Ý nghĩa</a:t>
            </a:r>
            <a:endParaRPr lang="en-US" altLang="en-US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714375" lvl="1" indent="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Giúp doanh nghiệp nhanh chóng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ánh giá nguy cơ rời bỏ của khách hàng và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a ra các hành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ộng phù hợp nhằm tối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u chiến l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ợc giữ chân khách hàng.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endParaRPr lang="en-US" sz="2400"/>
          </a:p>
        </p:txBody>
      </p:sp>
      <p:pic>
        <p:nvPicPr>
          <p:cNvPr id="3" name="Picture 2" descr="Ảnh chụp màn hình 2026-03-27 2020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2585" y="1496060"/>
            <a:ext cx="5247640" cy="33559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25" y="-58056"/>
            <a:ext cx="1872318" cy="6857999"/>
          </a:xfrm>
          <a:prstGeom prst="rect">
            <a:avLst/>
          </a:prstGeom>
          <a:solidFill>
            <a:schemeClr val="accent5">
              <a:lumMod val="5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47647" y="1496284"/>
            <a:ext cx="1872318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4.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Kết quả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thực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nghiệm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2057400" y="367665"/>
            <a:ext cx="669671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4.</a:t>
            </a:r>
            <a:r>
              <a:rPr lang="vi-VN" sz="2800" b="1" dirty="0">
                <a:latin typeface="Muli Black" panose="00000A00000000000000" pitchFamily="2" charset="0"/>
              </a:rPr>
              <a:t>7. </a:t>
            </a:r>
            <a:r>
              <a:rPr lang="vi-VN" altLang="en-US" sz="2800" b="1" dirty="0">
                <a:latin typeface="Muli Black" panose="00000A00000000000000" pitchFamily="2" charset="0"/>
              </a:rPr>
              <a:t>Giao diện phân tích What-</a:t>
            </a:r>
            <a:r>
              <a:rPr lang="vi-VN" altLang="en-US" sz="2800" b="1" dirty="0">
                <a:latin typeface="Muli Black" panose="00000A00000000000000" pitchFamily="2" charset="0"/>
              </a:rPr>
              <a:t>If</a:t>
            </a:r>
            <a:endParaRPr lang="vi-VN" altLang="en-US" sz="2800" b="1" dirty="0">
              <a:latin typeface="Muli Black" panose="00000A00000000000000" pitchFamily="2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2057400" y="193463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1511300" y="1216025"/>
            <a:ext cx="4992370" cy="41567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800100" lvl="1" indent="-3429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en-US" altLang="en-US" sz="2400" b="1" dirty="0">
                <a:latin typeface="Roboto" panose="02000000000000000000"/>
                <a:ea typeface="Cambria" panose="02040503050406030204" pitchFamily="18" charset="0"/>
              </a:rPr>
              <a:t>Các </a:t>
            </a:r>
            <a:r>
              <a:rPr lang="vi-VN" altLang="en-US" sz="2400" b="1" dirty="0">
                <a:latin typeface="Roboto" panose="02000000000000000000"/>
                <a:ea typeface="Cambria" panose="02040503050406030204" pitchFamily="18" charset="0"/>
              </a:rPr>
              <a:t>chức năng chính</a:t>
            </a:r>
            <a:endParaRPr lang="en-US" altLang="en-US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altLang="en-US" sz="2400" dirty="0">
                <a:latin typeface="Roboto" panose="02000000000000000000"/>
                <a:ea typeface="Cambria" panose="02040503050406030204" pitchFamily="18" charset="0"/>
              </a:rPr>
              <a:t>Mô phỏng thay đổi các thuộc tính của khách hàng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So sánh giữa kịch bản hiện tại và kịch bản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iều chỉnh</a:t>
            </a:r>
            <a:r>
              <a:rPr lang="vi-VN" altLang="en-US" sz="2400" dirty="0">
                <a:latin typeface="Roboto" panose="02000000000000000000"/>
                <a:ea typeface="Cambria" panose="02040503050406030204" pitchFamily="18" charset="0"/>
              </a:rPr>
              <a:t> 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Hiển thị mức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ộ ảnh h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ởng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ến xác suất rời bỏ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vi-VN" altLang="en-US" sz="2400"/>
          </a:p>
        </p:txBody>
      </p:sp>
      <p:sp>
        <p:nvSpPr>
          <p:cNvPr id="2" name="Text Box 1"/>
          <p:cNvSpPr txBox="1"/>
          <p:nvPr/>
        </p:nvSpPr>
        <p:spPr>
          <a:xfrm>
            <a:off x="1511300" y="4789170"/>
            <a:ext cx="10448290" cy="2068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v"/>
              <a:tabLst>
                <a:tab pos="540385" algn="l"/>
              </a:tabLst>
            </a:pPr>
            <a:r>
              <a:rPr lang="vi-VN" altLang="en-US" sz="2400" b="1" dirty="0">
                <a:latin typeface="Roboto" panose="02000000000000000000"/>
                <a:ea typeface="Cambria" panose="02040503050406030204" pitchFamily="18" charset="0"/>
              </a:rPr>
              <a:t>Ý nghĩa</a:t>
            </a:r>
            <a:endParaRPr lang="en-US" altLang="en-US" sz="2400" b="1" dirty="0">
              <a:latin typeface="Roboto" panose="02000000000000000000"/>
              <a:ea typeface="Cambria" panose="02040503050406030204" pitchFamily="18" charset="0"/>
            </a:endParaRPr>
          </a:p>
          <a:p>
            <a:pPr marL="714375" lvl="1" indent="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Giúp doanh nghiệp hiểu r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õ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 tác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ộng của từng yếu tố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ến churn và thử nghiệm các chiến l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ợc khác nhau tr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ớc khi áp dụng thực tế nhằm tối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u hiệu quả giữ chân khách hàng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endParaRPr lang="en-US" sz="2400"/>
          </a:p>
        </p:txBody>
      </p:sp>
      <p:pic>
        <p:nvPicPr>
          <p:cNvPr id="4" name="Picture 3" descr="Ảnh chụp màn hình 2026-03-27 2030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125" y="1496060"/>
            <a:ext cx="5244465" cy="33559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25" y="1"/>
            <a:ext cx="1872318" cy="6857999"/>
          </a:xfrm>
          <a:prstGeom prst="rect">
            <a:avLst/>
          </a:prstGeom>
          <a:solidFill>
            <a:srgbClr val="735E49">
              <a:alpha val="5254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127474" y="1489027"/>
            <a:ext cx="1750069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5.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Kết luận và hướng phát triển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56612" y="1136437"/>
            <a:ext cx="10719276" cy="4638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Xây dựng thành công mô hình dự báo dựa trên thuật toán Cây quyết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ịnh (Decision Tree) với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ộ chính xác tin cậy.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Trích xuất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ợc các quy tắc (Rules) r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õ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ràng, giúp nhà quản l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ý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hiểu r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õ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hành vi rời bỏ của khách hàng.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Phát triển quy trình hỗ trợ ra quyết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ịnh khép kín từ khâu thu thập dữ liệu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ến khâu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ề xuất giải pháp (Simulated What-if).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Hệ thống có khả n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ă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ng vận hành linh hoạt, sẵn sàng tích hợp vào thực tế doanh nghiệp.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9" name="Rectangle 8"/>
          <p:cNvSpPr/>
          <p:nvPr/>
        </p:nvSpPr>
        <p:spPr bwMode="white">
          <a:xfrm>
            <a:off x="2057400" y="367477"/>
            <a:ext cx="42490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5.1. Kết quả đạt được</a:t>
            </a:r>
            <a:endParaRPr lang="vi-VN" sz="2800" b="1" dirty="0">
              <a:latin typeface="Muli Black" panose="00000A00000000000000" pitchFamily="2" charset="0"/>
            </a:endParaRPr>
          </a:p>
        </p:txBody>
      </p:sp>
      <p:sp>
        <p:nvSpPr>
          <p:cNvPr id="10" name="Rectangle: Rounded Corners 9"/>
          <p:cNvSpPr/>
          <p:nvPr/>
        </p:nvSpPr>
        <p:spPr>
          <a:xfrm>
            <a:off x="2057400" y="193463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25" y="1"/>
            <a:ext cx="1872318" cy="6857999"/>
          </a:xfrm>
          <a:prstGeom prst="rect">
            <a:avLst/>
          </a:prstGeom>
          <a:solidFill>
            <a:srgbClr val="735E49">
              <a:alpha val="5254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127474" y="1489027"/>
            <a:ext cx="1750069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5.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Kết luận và hướng phát triển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56612" y="1136437"/>
            <a:ext cx="10719276" cy="3491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Dữ liệu thử nghiệm là dữ liệu t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ĩ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nh, ch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a phản ánh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ợc biến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ộng thời gian thực của thị tr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ờng.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Mô hình Cây quyết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ịnh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ôi khi gặp hiện t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ợng quá khớp (Overfitting), cần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đư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ợc cắt tỉa và tối 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u sâu hơn.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Hệ thống hiện tại mới dừng lại ở mức sản phẩm thử nghiệm (MVP), ch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ư</a:t>
            </a:r>
            <a:r>
              <a:rPr lang="en-US" altLang="en-US" sz="2400" dirty="0">
                <a:latin typeface="Roboto" panose="02000000000000000000"/>
                <a:ea typeface="Cambria" panose="02040503050406030204" pitchFamily="18" charset="0"/>
              </a:rPr>
              <a:t>a tích hợp các yếu tố về chi phí - lợi ích (ROI) cho từng kịch bản.</a:t>
            </a:r>
            <a:endParaRPr lang="en-US" altLang="en-US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9" name="Rectangle 8"/>
          <p:cNvSpPr/>
          <p:nvPr/>
        </p:nvSpPr>
        <p:spPr bwMode="white">
          <a:xfrm>
            <a:off x="2057401" y="367477"/>
            <a:ext cx="26016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5.2. Hạn chế</a:t>
            </a:r>
            <a:endParaRPr lang="vi-VN" sz="2800" b="1" dirty="0">
              <a:latin typeface="Muli Black" panose="00000A00000000000000" pitchFamily="2" charset="0"/>
            </a:endParaRPr>
          </a:p>
        </p:txBody>
      </p:sp>
      <p:sp>
        <p:nvSpPr>
          <p:cNvPr id="10" name="Rectangle: Rounded Corners 9"/>
          <p:cNvSpPr/>
          <p:nvPr/>
        </p:nvSpPr>
        <p:spPr>
          <a:xfrm>
            <a:off x="2057400" y="193463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2725" y="1"/>
            <a:ext cx="1872318" cy="6857999"/>
          </a:xfrm>
          <a:prstGeom prst="rect">
            <a:avLst/>
          </a:prstGeom>
          <a:solidFill>
            <a:srgbClr val="735E49">
              <a:alpha val="5254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white">
          <a:xfrm>
            <a:off x="127474" y="1489027"/>
            <a:ext cx="1750069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5.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  <a:p>
            <a:pPr algn="ctr"/>
            <a:r>
              <a:rPr lang="vi-VN" sz="3500" dirty="0">
                <a:solidFill>
                  <a:schemeClr val="bg1"/>
                </a:solidFill>
                <a:latin typeface="Muli Black" panose="00000A00000000000000" pitchFamily="2" charset="0"/>
              </a:rPr>
              <a:t>Kết luận và hướng phát triển</a:t>
            </a:r>
            <a:endParaRPr lang="vi-VN" sz="3500" dirty="0">
              <a:solidFill>
                <a:schemeClr val="bg1"/>
              </a:solidFill>
              <a:latin typeface="Muli Black" panose="00000A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56612" y="1136437"/>
            <a:ext cx="10719276" cy="3463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Mở rộng dữ liệu và cải thiện Feature Engineering.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Tối ưu mô hình Decision Tree (điều chỉnh tham số, cắt tỉa cây).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Tăng cường DSS: giải thích kết quả (XAI), hỗ trợ quyết định thông minh.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  <a:p>
            <a:pPr marL="1076325" lvl="1" indent="-36195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vi-VN" sz="2400" dirty="0">
                <a:latin typeface="Roboto" panose="02000000000000000000"/>
                <a:ea typeface="Cambria" panose="02040503050406030204" pitchFamily="18" charset="0"/>
              </a:rPr>
              <a:t>Chuẩn hóa vận hành (MLOps), nâng cao bảo mật và khả năng triển khai thực tế.</a:t>
            </a:r>
            <a:endParaRPr lang="vi-VN" sz="2400" dirty="0">
              <a:latin typeface="Roboto" panose="02000000000000000000"/>
              <a:ea typeface="Cambria" panose="02040503050406030204" pitchFamily="18" charset="0"/>
            </a:endParaRPr>
          </a:p>
        </p:txBody>
      </p:sp>
      <p:sp>
        <p:nvSpPr>
          <p:cNvPr id="9" name="Rectangle 8"/>
          <p:cNvSpPr/>
          <p:nvPr/>
        </p:nvSpPr>
        <p:spPr bwMode="white">
          <a:xfrm>
            <a:off x="2057400" y="367477"/>
            <a:ext cx="41764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2800" b="1" dirty="0">
                <a:latin typeface="Muli Black" panose="00000A00000000000000" pitchFamily="2" charset="0"/>
              </a:rPr>
              <a:t>5.3. Hướng phát triển</a:t>
            </a:r>
            <a:endParaRPr lang="vi-VN" sz="2800" b="1" dirty="0">
              <a:latin typeface="Muli Black" panose="00000A00000000000000" pitchFamily="2" charset="0"/>
            </a:endParaRPr>
          </a:p>
        </p:txBody>
      </p:sp>
      <p:sp>
        <p:nvSpPr>
          <p:cNvPr id="10" name="Rectangle: Rounded Corners 9"/>
          <p:cNvSpPr/>
          <p:nvPr/>
        </p:nvSpPr>
        <p:spPr>
          <a:xfrm>
            <a:off x="2057400" y="193463"/>
            <a:ext cx="9901989" cy="942974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15"/>
          <a:stretch>
            <a:fillRect/>
          </a:stretch>
        </p:blipFill>
        <p:spPr>
          <a:xfrm>
            <a:off x="4165948" y="2945717"/>
            <a:ext cx="6858000" cy="3812048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 bwMode="white">
          <a:xfrm>
            <a:off x="1641682" y="1006725"/>
            <a:ext cx="10550318" cy="2618788"/>
            <a:chOff x="-87876" y="659562"/>
            <a:chExt cx="13250472" cy="2618788"/>
          </a:xfrm>
        </p:grpSpPr>
        <p:sp>
          <p:nvSpPr>
            <p:cNvPr id="4" name="Rectangle 3"/>
            <p:cNvSpPr/>
            <p:nvPr/>
          </p:nvSpPr>
          <p:spPr bwMode="white">
            <a:xfrm>
              <a:off x="463936" y="2262687"/>
              <a:ext cx="10976081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sz="6000" dirty="0">
                <a:solidFill>
                  <a:srgbClr val="FF0000"/>
                </a:solidFill>
                <a:latin typeface="Muli Black" panose="00000A00000000000000" pitchFamily="2" charset="0"/>
              </a:endParaRPr>
            </a:p>
          </p:txBody>
        </p:sp>
        <p:sp>
          <p:nvSpPr>
            <p:cNvPr id="5" name="Rectangle 4"/>
            <p:cNvSpPr/>
            <p:nvPr/>
          </p:nvSpPr>
          <p:spPr bwMode="white">
            <a:xfrm>
              <a:off x="-87876" y="659562"/>
              <a:ext cx="13250472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vi-VN" sz="6000" dirty="0">
                  <a:solidFill>
                    <a:srgbClr val="FF0000"/>
                  </a:solidFill>
                  <a:latin typeface="Muli Black" panose="00000A00000000000000" pitchFamily="2" charset="0"/>
                </a:rPr>
                <a:t>XIN CẢM ƠN ĐÃ LẮNG NGHE!</a:t>
              </a:r>
              <a:endParaRPr lang="en-US" sz="6000" dirty="0">
                <a:solidFill>
                  <a:srgbClr val="FF0000"/>
                </a:solidFill>
                <a:latin typeface="Muli Black" panose="00000A00000000000000" pitchFamily="2" charset="0"/>
              </a:endParaRPr>
            </a:p>
          </p:txBody>
        </p:sp>
      </p:grpSp>
      <p:sp>
        <p:nvSpPr>
          <p:cNvPr id="9" name="Rectangle 8"/>
          <p:cNvSpPr/>
          <p:nvPr/>
        </p:nvSpPr>
        <p:spPr>
          <a:xfrm>
            <a:off x="2852860" y="2972975"/>
            <a:ext cx="8363823" cy="45719"/>
          </a:xfrm>
          <a:prstGeom prst="rect">
            <a:avLst/>
          </a:prstGeom>
          <a:solidFill>
            <a:srgbClr val="68D0C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47450" y="3655588"/>
            <a:ext cx="721173" cy="338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Muli Black" panose="00000A00000000000000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-2725" y="1"/>
            <a:ext cx="1872318" cy="6857999"/>
          </a:xfrm>
          <a:prstGeom prst="rect">
            <a:avLst/>
          </a:prstGeom>
          <a:solidFill>
            <a:srgbClr val="426687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655407" y="1"/>
            <a:ext cx="222137" cy="6857999"/>
          </a:xfrm>
          <a:prstGeom prst="rect">
            <a:avLst/>
          </a:prstGeom>
          <a:solidFill>
            <a:srgbClr val="006699">
              <a:alpha val="5254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8781</Words>
  <Application>WPS Presentation</Application>
  <PresentationFormat>Widescreen</PresentationFormat>
  <Paragraphs>377</Paragraphs>
  <Slides>28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2" baseType="lpstr">
      <vt:lpstr>Arial</vt:lpstr>
      <vt:lpstr>SimSun</vt:lpstr>
      <vt:lpstr>Wingdings</vt:lpstr>
      <vt:lpstr>Muli Black</vt:lpstr>
      <vt:lpstr>Muli SemiBold</vt:lpstr>
      <vt:lpstr>Cambria</vt:lpstr>
      <vt:lpstr>Roboto</vt:lpstr>
      <vt:lpstr>Calibri</vt:lpstr>
      <vt:lpstr>Microsoft YaHei</vt:lpstr>
      <vt:lpstr>Arial Unicode MS</vt:lpstr>
      <vt:lpstr>Calibri Light</vt:lpstr>
      <vt:lpstr>Wingdings</vt:lpstr>
      <vt:lpstr>Roboto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HOẠT ĐỘNG TẠM NHẬP TÁI XUẤT CỦA CÔNG TY CỔ PHẦN HUY TUẤN</dc:title>
  <dc:creator>admin</dc:creator>
  <cp:lastModifiedBy>Liên Hòa Thuận</cp:lastModifiedBy>
  <cp:revision>533</cp:revision>
  <dcterms:created xsi:type="dcterms:W3CDTF">2020-06-05T12:11:00Z</dcterms:created>
  <dcterms:modified xsi:type="dcterms:W3CDTF">2026-03-27T14:08:37Z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5D0D0B707B3E49BFA927A8A3E1BD857D_13</vt:lpwstr>
  </property>
</Properties>
</file>